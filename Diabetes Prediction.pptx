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embeddedFontLst>
    <p:embeddedFont>
      <p:font typeface="Lora" panose="020B0604020202020204" charset="0"/>
      <p:regular r:id="rId17"/>
    </p:embeddedFont>
    <p:embeddedFont>
      <p:font typeface="Calibri" panose="020F0502020204030204" pitchFamily="34" charset="0"/>
      <p:regular r:id="rId18"/>
      <p:bold r:id="rId19"/>
      <p:italic r:id="rId20"/>
      <p:boldItalic r:id="rId21"/>
    </p:embeddedFont>
    <p:embeddedFont>
      <p:font typeface="Source Sans 3"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7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4298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24"/>
          </a:solidFill>
          <a:ln/>
        </p:spPr>
      </p:sp>
      <p:sp>
        <p:nvSpPr>
          <p:cNvPr id="3" name="Shape 1"/>
          <p:cNvSpPr/>
          <p:nvPr/>
        </p:nvSpPr>
        <p:spPr>
          <a:xfrm>
            <a:off x="0" y="0"/>
            <a:ext cx="14630400" cy="8229600"/>
          </a:xfrm>
          <a:prstGeom prst="rect">
            <a:avLst/>
          </a:prstGeom>
          <a:solidFill>
            <a:srgbClr val="25283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52833">
              <a:alpha val="80000"/>
            </a:srgbClr>
          </a:solidFill>
          <a:ln/>
        </p:spPr>
      </p:sp>
      <p:sp>
        <p:nvSpPr>
          <p:cNvPr id="4" name="Text 1"/>
          <p:cNvSpPr/>
          <p:nvPr/>
        </p:nvSpPr>
        <p:spPr>
          <a:xfrm>
            <a:off x="837724" y="2656761"/>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Understanding Diabetes &amp; Introducing Our Diabetes Risk Checker.</a:t>
            </a:r>
            <a:endParaRPr lang="en-US" sz="4400" dirty="0"/>
          </a:p>
        </p:txBody>
      </p:sp>
      <p:sp>
        <p:nvSpPr>
          <p:cNvPr id="5" name="Text 2"/>
          <p:cNvSpPr/>
          <p:nvPr/>
        </p:nvSpPr>
        <p:spPr>
          <a:xfrm>
            <a:off x="837724" y="4423767"/>
            <a:ext cx="12954952"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Welcome to our presentation on diabetes, a pervasive health challenge affecting millions globally. We'll demystify this condition, explore its causes, and discuss crucial detection methods. Following this, we're excited to introduce our innovative app, designed to empower you with early diabetes risk assessment.</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7724" y="1874758"/>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What is Diabetes?</a:t>
            </a:r>
            <a:endParaRPr lang="en-US" sz="4400" dirty="0"/>
          </a:p>
        </p:txBody>
      </p:sp>
      <p:sp>
        <p:nvSpPr>
          <p:cNvPr id="4" name="Text 1"/>
          <p:cNvSpPr/>
          <p:nvPr/>
        </p:nvSpPr>
        <p:spPr>
          <a:xfrm>
            <a:off x="837724" y="2937748"/>
            <a:ext cx="7468553"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Diabetes is a </a:t>
            </a:r>
            <a:r>
              <a:rPr lang="en-US" sz="1850" b="1" dirty="0">
                <a:solidFill>
                  <a:srgbClr val="F98AC7"/>
                </a:solidFill>
                <a:latin typeface="Source Sans 3" pitchFamily="34" charset="0"/>
                <a:ea typeface="Source Sans 3" pitchFamily="34" charset="-122"/>
                <a:cs typeface="Source Sans 3" pitchFamily="34" charset="-120"/>
              </a:rPr>
              <a:t>chronic condition</a:t>
            </a:r>
            <a:r>
              <a:rPr lang="en-US" sz="1850" dirty="0">
                <a:solidFill>
                  <a:srgbClr val="D6E5EF"/>
                </a:solidFill>
                <a:latin typeface="Source Sans 3" pitchFamily="34" charset="0"/>
                <a:ea typeface="Source Sans 3" pitchFamily="34" charset="-122"/>
                <a:cs typeface="Source Sans 3" pitchFamily="34" charset="-120"/>
              </a:rPr>
              <a:t> where your body struggles to regulate blood sugar (glucose) levels. This can happen if your body doesn't produce enough insulin, or if it can't effectively use the insulin it does produce.</a:t>
            </a:r>
            <a:endParaRPr lang="en-US" sz="1850" dirty="0"/>
          </a:p>
        </p:txBody>
      </p:sp>
      <p:sp>
        <p:nvSpPr>
          <p:cNvPr id="5" name="Text 2"/>
          <p:cNvSpPr/>
          <p:nvPr/>
        </p:nvSpPr>
        <p:spPr>
          <a:xfrm>
            <a:off x="837724" y="4356021"/>
            <a:ext cx="7468553"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D6E5EF"/>
                </a:solidFill>
                <a:latin typeface="Source Sans 3" pitchFamily="34" charset="0"/>
                <a:ea typeface="Source Sans 3" pitchFamily="34" charset="-122"/>
                <a:cs typeface="Source Sans 3" pitchFamily="34" charset="-120"/>
              </a:rPr>
              <a:t>There are two main types: </a:t>
            </a:r>
            <a:r>
              <a:rPr lang="en-US" sz="1850" b="1" dirty="0">
                <a:solidFill>
                  <a:srgbClr val="D6E5EF"/>
                </a:solidFill>
                <a:latin typeface="Source Sans 3" pitchFamily="34" charset="0"/>
                <a:ea typeface="Source Sans 3" pitchFamily="34" charset="-122"/>
                <a:cs typeface="Source Sans 3" pitchFamily="34" charset="-120"/>
              </a:rPr>
              <a:t>Type 1</a:t>
            </a:r>
            <a:r>
              <a:rPr lang="en-US" sz="1850" dirty="0">
                <a:solidFill>
                  <a:srgbClr val="D6E5EF"/>
                </a:solidFill>
                <a:latin typeface="Source Sans 3" pitchFamily="34" charset="0"/>
                <a:ea typeface="Source Sans 3" pitchFamily="34" charset="-122"/>
                <a:cs typeface="Source Sans 3" pitchFamily="34" charset="-120"/>
              </a:rPr>
              <a:t> (an autoimmune condition) and </a:t>
            </a:r>
            <a:r>
              <a:rPr lang="en-US" sz="1850" b="1" dirty="0">
                <a:solidFill>
                  <a:srgbClr val="D6E5EF"/>
                </a:solidFill>
                <a:latin typeface="Source Sans 3" pitchFamily="34" charset="0"/>
                <a:ea typeface="Source Sans 3" pitchFamily="34" charset="-122"/>
                <a:cs typeface="Source Sans 3" pitchFamily="34" charset="-120"/>
              </a:rPr>
              <a:t>Type 2</a:t>
            </a:r>
            <a:r>
              <a:rPr lang="en-US" sz="1850" dirty="0">
                <a:solidFill>
                  <a:srgbClr val="D6E5EF"/>
                </a:solidFill>
                <a:latin typeface="Source Sans 3" pitchFamily="34" charset="0"/>
                <a:ea typeface="Source Sans 3" pitchFamily="34" charset="-122"/>
                <a:cs typeface="Source Sans 3" pitchFamily="34" charset="-120"/>
              </a:rPr>
              <a:t> (often related to lifestyle factors).</a:t>
            </a:r>
            <a:endParaRPr lang="en-US" sz="1850" dirty="0"/>
          </a:p>
        </p:txBody>
      </p:sp>
      <p:sp>
        <p:nvSpPr>
          <p:cNvPr id="6" name="Text 3"/>
          <p:cNvSpPr/>
          <p:nvPr/>
        </p:nvSpPr>
        <p:spPr>
          <a:xfrm>
            <a:off x="837724" y="5205770"/>
            <a:ext cx="7468553" cy="1149072"/>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D6E5EF"/>
                </a:solidFill>
                <a:latin typeface="Source Sans 3" pitchFamily="34" charset="0"/>
                <a:ea typeface="Source Sans 3" pitchFamily="34" charset="-122"/>
                <a:cs typeface="Source Sans 3" pitchFamily="34" charset="-120"/>
              </a:rPr>
              <a:t>Alarmingly, over </a:t>
            </a:r>
            <a:r>
              <a:rPr lang="en-US" sz="1850" b="1" dirty="0">
                <a:solidFill>
                  <a:srgbClr val="D6E5EF"/>
                </a:solidFill>
                <a:latin typeface="Source Sans 3" pitchFamily="34" charset="0"/>
                <a:ea typeface="Source Sans 3" pitchFamily="34" charset="-122"/>
                <a:cs typeface="Source Sans 3" pitchFamily="34" charset="-120"/>
              </a:rPr>
              <a:t>37 million Americans</a:t>
            </a:r>
            <a:r>
              <a:rPr lang="en-US" sz="1850" dirty="0">
                <a:solidFill>
                  <a:srgbClr val="D6E5EF"/>
                </a:solidFill>
                <a:latin typeface="Source Sans 3" pitchFamily="34" charset="0"/>
                <a:ea typeface="Source Sans 3" pitchFamily="34" charset="-122"/>
                <a:cs typeface="Source Sans 3" pitchFamily="34" charset="-120"/>
              </a:rPr>
              <a:t> currently live with diabetes, and </a:t>
            </a:r>
            <a:r>
              <a:rPr lang="en-US" sz="1850" b="1" dirty="0">
                <a:solidFill>
                  <a:srgbClr val="D6E5EF"/>
                </a:solidFill>
                <a:latin typeface="Source Sans 3" pitchFamily="34" charset="0"/>
                <a:ea typeface="Source Sans 3" pitchFamily="34" charset="-122"/>
                <a:cs typeface="Source Sans 3" pitchFamily="34" charset="-120"/>
              </a:rPr>
              <a:t>1 in 3 adults</a:t>
            </a:r>
            <a:r>
              <a:rPr lang="en-US" sz="1850" dirty="0">
                <a:solidFill>
                  <a:srgbClr val="D6E5EF"/>
                </a:solidFill>
                <a:latin typeface="Source Sans 3" pitchFamily="34" charset="0"/>
                <a:ea typeface="Source Sans 3" pitchFamily="34" charset="-122"/>
                <a:cs typeface="Source Sans 3" pitchFamily="34" charset="-120"/>
              </a:rPr>
              <a:t> have prediabetes without even knowing it (CDC, 2025).</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100495"/>
            <a:ext cx="12144137"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Why Does Diabetes Happen? The Main Causes</a:t>
            </a:r>
            <a:endParaRPr lang="en-US" sz="4400" dirty="0"/>
          </a:p>
        </p:txBody>
      </p:sp>
      <p:sp>
        <p:nvSpPr>
          <p:cNvPr id="3" name="Text 1"/>
          <p:cNvSpPr/>
          <p:nvPr/>
        </p:nvSpPr>
        <p:spPr>
          <a:xfrm>
            <a:off x="837724" y="2402800"/>
            <a:ext cx="3160871"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Underlying Mechanisms</a:t>
            </a:r>
            <a:endParaRPr lang="en-US" sz="2200" dirty="0"/>
          </a:p>
        </p:txBody>
      </p:sp>
      <p:sp>
        <p:nvSpPr>
          <p:cNvPr id="4" name="Text 2"/>
          <p:cNvSpPr/>
          <p:nvPr/>
        </p:nvSpPr>
        <p:spPr>
          <a:xfrm>
            <a:off x="837724" y="2994065"/>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Type 1 Diabetes:</a:t>
            </a:r>
            <a:r>
              <a:rPr lang="en-US" sz="1850" dirty="0">
                <a:solidFill>
                  <a:srgbClr val="D6E5EF"/>
                </a:solidFill>
                <a:latin typeface="Source Sans 3" pitchFamily="34" charset="0"/>
                <a:ea typeface="Source Sans 3" pitchFamily="34" charset="-122"/>
                <a:cs typeface="Source Sans 3" pitchFamily="34" charset="-120"/>
              </a:rPr>
              <a:t> The immune system mistakenly attacks and destroys the insulin-producing cells in the pancreas.</a:t>
            </a:r>
            <a:endParaRPr lang="en-US" sz="1850" dirty="0"/>
          </a:p>
        </p:txBody>
      </p:sp>
      <p:sp>
        <p:nvSpPr>
          <p:cNvPr id="5" name="Text 3"/>
          <p:cNvSpPr/>
          <p:nvPr/>
        </p:nvSpPr>
        <p:spPr>
          <a:xfrm>
            <a:off x="837724" y="3843814"/>
            <a:ext cx="6185535" cy="1532096"/>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Type 2 Diabetes:</a:t>
            </a:r>
            <a:r>
              <a:rPr lang="en-US" sz="1850" dirty="0">
                <a:solidFill>
                  <a:srgbClr val="D6E5EF"/>
                </a:solidFill>
                <a:latin typeface="Source Sans 3" pitchFamily="34" charset="0"/>
                <a:ea typeface="Source Sans 3" pitchFamily="34" charset="-122"/>
                <a:cs typeface="Source Sans 3" pitchFamily="34" charset="-120"/>
              </a:rPr>
              <a:t> The body either becomes resistant to the effects of insulin (insulin resistance) or doesn’t produce enough insulin to maintain normal glucose levels.</a:t>
            </a:r>
            <a:endParaRPr lang="en-US" sz="1850" dirty="0"/>
          </a:p>
        </p:txBody>
      </p:sp>
      <p:sp>
        <p:nvSpPr>
          <p:cNvPr id="6" name="Text 4"/>
          <p:cNvSpPr/>
          <p:nvPr/>
        </p:nvSpPr>
        <p:spPr>
          <a:xfrm>
            <a:off x="7614761" y="240280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Key Risk Factors</a:t>
            </a:r>
            <a:endParaRPr lang="en-US" sz="2200" dirty="0"/>
          </a:p>
        </p:txBody>
      </p:sp>
      <p:sp>
        <p:nvSpPr>
          <p:cNvPr id="7" name="Text 5"/>
          <p:cNvSpPr/>
          <p:nvPr/>
        </p:nvSpPr>
        <p:spPr>
          <a:xfrm>
            <a:off x="7614761" y="2994065"/>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Obesity:</a:t>
            </a:r>
            <a:r>
              <a:rPr lang="en-US" sz="1850" dirty="0">
                <a:solidFill>
                  <a:srgbClr val="D6E5EF"/>
                </a:solidFill>
                <a:latin typeface="Source Sans 3" pitchFamily="34" charset="0"/>
                <a:ea typeface="Source Sans 3" pitchFamily="34" charset="-122"/>
                <a:cs typeface="Source Sans 3" pitchFamily="34" charset="-120"/>
              </a:rPr>
              <a:t> A significant contributor, especially to Type 2 diabetes.</a:t>
            </a:r>
            <a:endParaRPr lang="en-US" sz="1850" dirty="0"/>
          </a:p>
        </p:txBody>
      </p:sp>
      <p:sp>
        <p:nvSpPr>
          <p:cNvPr id="8" name="Text 6"/>
          <p:cNvSpPr/>
          <p:nvPr/>
        </p:nvSpPr>
        <p:spPr>
          <a:xfrm>
            <a:off x="7614761" y="3843814"/>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Sedentary Lifestyle:</a:t>
            </a:r>
            <a:r>
              <a:rPr lang="en-US" sz="1850" dirty="0">
                <a:solidFill>
                  <a:srgbClr val="D6E5EF"/>
                </a:solidFill>
                <a:latin typeface="Source Sans 3" pitchFamily="34" charset="0"/>
                <a:ea typeface="Source Sans 3" pitchFamily="34" charset="-122"/>
                <a:cs typeface="Source Sans 3" pitchFamily="34" charset="-120"/>
              </a:rPr>
              <a:t> Lack of physical activity increases risk.</a:t>
            </a:r>
            <a:endParaRPr lang="en-US" sz="1850" dirty="0"/>
          </a:p>
        </p:txBody>
      </p:sp>
      <p:sp>
        <p:nvSpPr>
          <p:cNvPr id="9" name="Text 7"/>
          <p:cNvSpPr/>
          <p:nvPr/>
        </p:nvSpPr>
        <p:spPr>
          <a:xfrm>
            <a:off x="7614761" y="4693563"/>
            <a:ext cx="6185535"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Poor Diet:</a:t>
            </a:r>
            <a:r>
              <a:rPr lang="en-US" sz="1850" dirty="0">
                <a:solidFill>
                  <a:srgbClr val="D6E5EF"/>
                </a:solidFill>
                <a:latin typeface="Source Sans 3" pitchFamily="34" charset="0"/>
                <a:ea typeface="Source Sans 3" pitchFamily="34" charset="-122"/>
                <a:cs typeface="Source Sans 3" pitchFamily="34" charset="-120"/>
              </a:rPr>
              <a:t> High intake of processed foods, sugar, and unhealthy fats.</a:t>
            </a:r>
            <a:endParaRPr lang="en-US" sz="1850" dirty="0"/>
          </a:p>
        </p:txBody>
      </p:sp>
      <p:sp>
        <p:nvSpPr>
          <p:cNvPr id="10" name="Text 8"/>
          <p:cNvSpPr/>
          <p:nvPr/>
        </p:nvSpPr>
        <p:spPr>
          <a:xfrm>
            <a:off x="7614761" y="5543312"/>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Family History:</a:t>
            </a:r>
            <a:r>
              <a:rPr lang="en-US" sz="1850" dirty="0">
                <a:solidFill>
                  <a:srgbClr val="D6E5EF"/>
                </a:solidFill>
                <a:latin typeface="Source Sans 3" pitchFamily="34" charset="0"/>
                <a:ea typeface="Source Sans 3" pitchFamily="34" charset="-122"/>
                <a:cs typeface="Source Sans 3" pitchFamily="34" charset="-120"/>
              </a:rPr>
              <a:t> Genetics play a role in both types.</a:t>
            </a:r>
            <a:endParaRPr lang="en-US" sz="1850" dirty="0"/>
          </a:p>
        </p:txBody>
      </p:sp>
      <p:sp>
        <p:nvSpPr>
          <p:cNvPr id="11" name="Text 9"/>
          <p:cNvSpPr/>
          <p:nvPr/>
        </p:nvSpPr>
        <p:spPr>
          <a:xfrm>
            <a:off x="7614761" y="6010037"/>
            <a:ext cx="6185535"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Age:</a:t>
            </a:r>
            <a:r>
              <a:rPr lang="en-US" sz="1850" dirty="0">
                <a:solidFill>
                  <a:srgbClr val="D6E5EF"/>
                </a:solidFill>
                <a:latin typeface="Source Sans 3" pitchFamily="34" charset="0"/>
                <a:ea typeface="Source Sans 3" pitchFamily="34" charset="-122"/>
                <a:cs typeface="Source Sans 3" pitchFamily="34" charset="-120"/>
              </a:rPr>
              <a:t> Risk increases significantly after age 45.</a:t>
            </a:r>
            <a:endParaRPr lang="en-US" sz="1850" dirty="0"/>
          </a:p>
        </p:txBody>
      </p:sp>
      <p:sp>
        <p:nvSpPr>
          <p:cNvPr id="12" name="Text 10"/>
          <p:cNvSpPr/>
          <p:nvPr/>
        </p:nvSpPr>
        <p:spPr>
          <a:xfrm>
            <a:off x="837724" y="6745962"/>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Understanding these factors is crucial for prevention and early intervention.</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3673" y="640556"/>
            <a:ext cx="10419874" cy="683776"/>
          </a:xfrm>
          <a:prstGeom prst="rect">
            <a:avLst/>
          </a:prstGeom>
          <a:noFill/>
          <a:ln/>
        </p:spPr>
        <p:txBody>
          <a:bodyPr wrap="none" lIns="0" tIns="0" rIns="0" bIns="0" rtlCol="0" anchor="t"/>
          <a:lstStyle/>
          <a:p>
            <a:pPr marL="0" indent="0" algn="l">
              <a:lnSpc>
                <a:spcPts val="5350"/>
              </a:lnSpc>
              <a:buNone/>
            </a:pPr>
            <a:r>
              <a:rPr lang="en-US" sz="4300" dirty="0">
                <a:solidFill>
                  <a:srgbClr val="F98AC7"/>
                </a:solidFill>
                <a:latin typeface="Lora" pitchFamily="34" charset="0"/>
                <a:ea typeface="Lora" pitchFamily="34" charset="-122"/>
                <a:cs typeface="Lora" pitchFamily="34" charset="-120"/>
              </a:rPr>
              <a:t>The Challenge: Millions Are Undiagnosed</a:t>
            </a:r>
            <a:endParaRPr lang="en-US" sz="4300" dirty="0"/>
          </a:p>
        </p:txBody>
      </p:sp>
      <p:sp>
        <p:nvSpPr>
          <p:cNvPr id="3" name="Text 1"/>
          <p:cNvSpPr/>
          <p:nvPr/>
        </p:nvSpPr>
        <p:spPr>
          <a:xfrm>
            <a:off x="1162407" y="2050733"/>
            <a:ext cx="12654320" cy="743903"/>
          </a:xfrm>
          <a:prstGeom prst="rect">
            <a:avLst/>
          </a:prstGeom>
          <a:noFill/>
          <a:ln/>
        </p:spPr>
        <p:txBody>
          <a:bodyPr wrap="square" lIns="0" tIns="0" rIns="0" bIns="0" rtlCol="0" anchor="t"/>
          <a:lstStyle/>
          <a:p>
            <a:pPr marL="0" indent="0" algn="l">
              <a:lnSpc>
                <a:spcPts val="2900"/>
              </a:lnSpc>
              <a:buNone/>
            </a:pPr>
            <a:r>
              <a:rPr lang="en-US" sz="1800" dirty="0">
                <a:solidFill>
                  <a:srgbClr val="D6E5EF"/>
                </a:solidFill>
                <a:latin typeface="Source Sans 3" pitchFamily="34" charset="0"/>
                <a:ea typeface="Source Sans 3" pitchFamily="34" charset="-122"/>
                <a:cs typeface="Source Sans 3" pitchFamily="34" charset="-120"/>
              </a:rPr>
              <a:t>Approximately </a:t>
            </a:r>
            <a:r>
              <a:rPr lang="en-US" sz="1800" b="1" dirty="0">
                <a:solidFill>
                  <a:srgbClr val="D6E5EF"/>
                </a:solidFill>
                <a:latin typeface="Source Sans 3" pitchFamily="34" charset="0"/>
                <a:ea typeface="Source Sans 3" pitchFamily="34" charset="-122"/>
                <a:cs typeface="Source Sans 3" pitchFamily="34" charset="-120"/>
              </a:rPr>
              <a:t>1 in 3 people</a:t>
            </a:r>
            <a:r>
              <a:rPr lang="en-US" sz="1800" dirty="0">
                <a:solidFill>
                  <a:srgbClr val="D6E5EF"/>
                </a:solidFill>
                <a:latin typeface="Source Sans 3" pitchFamily="34" charset="0"/>
                <a:ea typeface="Source Sans 3" pitchFamily="34" charset="-122"/>
                <a:cs typeface="Source Sans 3" pitchFamily="34" charset="-120"/>
              </a:rPr>
              <a:t> living with diabetes are unaware they have the condition. This staggering statistic highlights a critical gap in public health.</a:t>
            </a:r>
            <a:endParaRPr lang="en-US" sz="1800" dirty="0"/>
          </a:p>
        </p:txBody>
      </p:sp>
      <p:sp>
        <p:nvSpPr>
          <p:cNvPr id="4" name="Shape 2"/>
          <p:cNvSpPr/>
          <p:nvPr/>
        </p:nvSpPr>
        <p:spPr>
          <a:xfrm>
            <a:off x="813673" y="1789271"/>
            <a:ext cx="30480" cy="1266825"/>
          </a:xfrm>
          <a:prstGeom prst="rect">
            <a:avLst/>
          </a:prstGeom>
          <a:solidFill>
            <a:srgbClr val="F98AC7"/>
          </a:solidFill>
          <a:ln/>
        </p:spPr>
      </p:sp>
      <p:sp>
        <p:nvSpPr>
          <p:cNvPr id="5" name="Text 3"/>
          <p:cNvSpPr/>
          <p:nvPr/>
        </p:nvSpPr>
        <p:spPr>
          <a:xfrm>
            <a:off x="813673" y="3526750"/>
            <a:ext cx="6217920" cy="1115854"/>
          </a:xfrm>
          <a:prstGeom prst="rect">
            <a:avLst/>
          </a:prstGeom>
          <a:noFill/>
          <a:ln/>
        </p:spPr>
        <p:txBody>
          <a:bodyPr wrap="square" lIns="0" tIns="0" rIns="0" bIns="0" rtlCol="0" anchor="t"/>
          <a:lstStyle/>
          <a:p>
            <a:pPr marL="0" indent="0" algn="l">
              <a:lnSpc>
                <a:spcPts val="2900"/>
              </a:lnSpc>
              <a:buNone/>
            </a:pPr>
            <a:r>
              <a:rPr lang="en-US" sz="1800" dirty="0">
                <a:solidFill>
                  <a:srgbClr val="D6E5EF"/>
                </a:solidFill>
                <a:latin typeface="Source Sans 3" pitchFamily="34" charset="0"/>
                <a:ea typeface="Source Sans 3" pitchFamily="34" charset="-122"/>
                <a:cs typeface="Source Sans 3" pitchFamily="34" charset="-120"/>
              </a:rPr>
              <a:t>Early detection is paramount. Identifying diabetes in its initial stages allows for timely intervention, significantly reducing the risk of severe complications such as:</a:t>
            </a:r>
            <a:endParaRPr lang="en-US" sz="1800" dirty="0"/>
          </a:p>
        </p:txBody>
      </p:sp>
      <p:sp>
        <p:nvSpPr>
          <p:cNvPr id="6" name="Text 4"/>
          <p:cNvSpPr/>
          <p:nvPr/>
        </p:nvSpPr>
        <p:spPr>
          <a:xfrm>
            <a:off x="813673" y="4851797"/>
            <a:ext cx="6217920" cy="371951"/>
          </a:xfrm>
          <a:prstGeom prst="rect">
            <a:avLst/>
          </a:prstGeom>
          <a:noFill/>
          <a:ln/>
        </p:spPr>
        <p:txBody>
          <a:bodyPr wrap="none" lIns="0" tIns="0" rIns="0" bIns="0" rtlCol="0" anchor="t"/>
          <a:lstStyle/>
          <a:p>
            <a:pPr marL="342900" indent="-342900" algn="l">
              <a:lnSpc>
                <a:spcPts val="2900"/>
              </a:lnSpc>
              <a:buSzPct val="100000"/>
              <a:buChar char="•"/>
            </a:pPr>
            <a:r>
              <a:rPr lang="en-US" sz="1800" dirty="0">
                <a:solidFill>
                  <a:srgbClr val="D6E5EF"/>
                </a:solidFill>
                <a:latin typeface="Source Sans 3" pitchFamily="34" charset="0"/>
                <a:ea typeface="Source Sans 3" pitchFamily="34" charset="-122"/>
                <a:cs typeface="Source Sans 3" pitchFamily="34" charset="-120"/>
              </a:rPr>
              <a:t>Heart disease and stroke</a:t>
            </a:r>
            <a:endParaRPr lang="en-US" sz="1800" dirty="0"/>
          </a:p>
        </p:txBody>
      </p:sp>
      <p:sp>
        <p:nvSpPr>
          <p:cNvPr id="7" name="Text 5"/>
          <p:cNvSpPr/>
          <p:nvPr/>
        </p:nvSpPr>
        <p:spPr>
          <a:xfrm>
            <a:off x="813673" y="5305068"/>
            <a:ext cx="6217920" cy="371951"/>
          </a:xfrm>
          <a:prstGeom prst="rect">
            <a:avLst/>
          </a:prstGeom>
          <a:noFill/>
          <a:ln/>
        </p:spPr>
        <p:txBody>
          <a:bodyPr wrap="none" lIns="0" tIns="0" rIns="0" bIns="0" rtlCol="0" anchor="t"/>
          <a:lstStyle/>
          <a:p>
            <a:pPr marL="342900" indent="-342900" algn="l">
              <a:lnSpc>
                <a:spcPts val="2900"/>
              </a:lnSpc>
              <a:buSzPct val="100000"/>
              <a:buChar char="•"/>
            </a:pPr>
            <a:r>
              <a:rPr lang="en-US" sz="1800" dirty="0">
                <a:solidFill>
                  <a:srgbClr val="D6E5EF"/>
                </a:solidFill>
                <a:latin typeface="Source Sans 3" pitchFamily="34" charset="0"/>
                <a:ea typeface="Source Sans 3" pitchFamily="34" charset="-122"/>
                <a:cs typeface="Source Sans 3" pitchFamily="34" charset="-120"/>
              </a:rPr>
              <a:t>Kidney failure</a:t>
            </a:r>
            <a:endParaRPr lang="en-US" sz="1800" dirty="0"/>
          </a:p>
        </p:txBody>
      </p:sp>
      <p:sp>
        <p:nvSpPr>
          <p:cNvPr id="8" name="Text 6"/>
          <p:cNvSpPr/>
          <p:nvPr/>
        </p:nvSpPr>
        <p:spPr>
          <a:xfrm>
            <a:off x="813673" y="5758339"/>
            <a:ext cx="6217920" cy="371951"/>
          </a:xfrm>
          <a:prstGeom prst="rect">
            <a:avLst/>
          </a:prstGeom>
          <a:noFill/>
          <a:ln/>
        </p:spPr>
        <p:txBody>
          <a:bodyPr wrap="none" lIns="0" tIns="0" rIns="0" bIns="0" rtlCol="0" anchor="t"/>
          <a:lstStyle/>
          <a:p>
            <a:pPr marL="342900" indent="-342900" algn="l">
              <a:lnSpc>
                <a:spcPts val="2900"/>
              </a:lnSpc>
              <a:buSzPct val="100000"/>
              <a:buChar char="•"/>
            </a:pPr>
            <a:r>
              <a:rPr lang="en-US" sz="1800" dirty="0">
                <a:solidFill>
                  <a:srgbClr val="D6E5EF"/>
                </a:solidFill>
                <a:latin typeface="Source Sans 3" pitchFamily="34" charset="0"/>
                <a:ea typeface="Source Sans 3" pitchFamily="34" charset="-122"/>
                <a:cs typeface="Source Sans 3" pitchFamily="34" charset="-120"/>
              </a:rPr>
              <a:t>Vision loss and blindness</a:t>
            </a:r>
            <a:endParaRPr lang="en-US" sz="1800" dirty="0"/>
          </a:p>
        </p:txBody>
      </p:sp>
      <p:sp>
        <p:nvSpPr>
          <p:cNvPr id="9" name="Text 7"/>
          <p:cNvSpPr/>
          <p:nvPr/>
        </p:nvSpPr>
        <p:spPr>
          <a:xfrm>
            <a:off x="813673" y="6211610"/>
            <a:ext cx="6217920" cy="371951"/>
          </a:xfrm>
          <a:prstGeom prst="rect">
            <a:avLst/>
          </a:prstGeom>
          <a:noFill/>
          <a:ln/>
        </p:spPr>
        <p:txBody>
          <a:bodyPr wrap="none" lIns="0" tIns="0" rIns="0" bIns="0" rtlCol="0" anchor="t"/>
          <a:lstStyle/>
          <a:p>
            <a:pPr marL="342900" indent="-342900" algn="l">
              <a:lnSpc>
                <a:spcPts val="2900"/>
              </a:lnSpc>
              <a:buSzPct val="100000"/>
              <a:buChar char="•"/>
            </a:pPr>
            <a:r>
              <a:rPr lang="en-US" sz="1800" dirty="0">
                <a:solidFill>
                  <a:srgbClr val="D6E5EF"/>
                </a:solidFill>
                <a:latin typeface="Source Sans 3" pitchFamily="34" charset="0"/>
                <a:ea typeface="Source Sans 3" pitchFamily="34" charset="-122"/>
                <a:cs typeface="Source Sans 3" pitchFamily="34" charset="-120"/>
              </a:rPr>
              <a:t>Nerve damage</a:t>
            </a:r>
            <a:endParaRPr lang="en-US" sz="1800" dirty="0"/>
          </a:p>
        </p:txBody>
      </p:sp>
      <p:sp>
        <p:nvSpPr>
          <p:cNvPr id="10" name="Text 8"/>
          <p:cNvSpPr/>
          <p:nvPr/>
        </p:nvSpPr>
        <p:spPr>
          <a:xfrm>
            <a:off x="7606427" y="3526750"/>
            <a:ext cx="6217920" cy="743903"/>
          </a:xfrm>
          <a:prstGeom prst="rect">
            <a:avLst/>
          </a:prstGeom>
          <a:noFill/>
          <a:ln/>
        </p:spPr>
        <p:txBody>
          <a:bodyPr wrap="square" lIns="0" tIns="0" rIns="0" bIns="0" rtlCol="0" anchor="t"/>
          <a:lstStyle/>
          <a:p>
            <a:pPr marL="0" indent="0" algn="l">
              <a:lnSpc>
                <a:spcPts val="2900"/>
              </a:lnSpc>
              <a:buNone/>
            </a:pPr>
            <a:r>
              <a:rPr lang="en-US" sz="1800" dirty="0">
                <a:solidFill>
                  <a:srgbClr val="D6E5EF"/>
                </a:solidFill>
                <a:latin typeface="Source Sans 3" pitchFamily="34" charset="0"/>
                <a:ea typeface="Source Sans 3" pitchFamily="34" charset="-122"/>
                <a:cs typeface="Source Sans 3" pitchFamily="34" charset="-120"/>
              </a:rPr>
              <a:t>However, several barriers often prevent individuals from seeking diagnosis:</a:t>
            </a:r>
            <a:endParaRPr lang="en-US" sz="1800" dirty="0"/>
          </a:p>
        </p:txBody>
      </p:sp>
      <p:sp>
        <p:nvSpPr>
          <p:cNvPr id="11" name="Text 9"/>
          <p:cNvSpPr/>
          <p:nvPr/>
        </p:nvSpPr>
        <p:spPr>
          <a:xfrm>
            <a:off x="7606427" y="4479846"/>
            <a:ext cx="6217920" cy="743903"/>
          </a:xfrm>
          <a:prstGeom prst="rect">
            <a:avLst/>
          </a:prstGeom>
          <a:noFill/>
          <a:ln/>
        </p:spPr>
        <p:txBody>
          <a:bodyPr wrap="square" lIns="0" tIns="0" rIns="0" bIns="0" rtlCol="0" anchor="t"/>
          <a:lstStyle/>
          <a:p>
            <a:pPr marL="342900" indent="-342900" algn="l">
              <a:lnSpc>
                <a:spcPts val="2900"/>
              </a:lnSpc>
              <a:buSzPct val="100000"/>
              <a:buChar char="•"/>
            </a:pPr>
            <a:r>
              <a:rPr lang="en-US" sz="1800" b="1" dirty="0">
                <a:solidFill>
                  <a:srgbClr val="D6E5EF"/>
                </a:solidFill>
                <a:latin typeface="Source Sans 3" pitchFamily="34" charset="0"/>
                <a:ea typeface="Source Sans 3" pitchFamily="34" charset="-122"/>
                <a:cs typeface="Source Sans 3" pitchFamily="34" charset="-120"/>
              </a:rPr>
              <a:t>Cost:</a:t>
            </a:r>
            <a:r>
              <a:rPr lang="en-US" sz="1800" dirty="0">
                <a:solidFill>
                  <a:srgbClr val="D6E5EF"/>
                </a:solidFill>
                <a:latin typeface="Source Sans 3" pitchFamily="34" charset="0"/>
                <a:ea typeface="Source Sans 3" pitchFamily="34" charset="-122"/>
                <a:cs typeface="Source Sans 3" pitchFamily="34" charset="-120"/>
              </a:rPr>
              <a:t> Financial concerns related to testing and consultations.</a:t>
            </a:r>
            <a:endParaRPr lang="en-US" sz="1800" dirty="0"/>
          </a:p>
        </p:txBody>
      </p:sp>
      <p:sp>
        <p:nvSpPr>
          <p:cNvPr id="12" name="Text 10"/>
          <p:cNvSpPr/>
          <p:nvPr/>
        </p:nvSpPr>
        <p:spPr>
          <a:xfrm>
            <a:off x="7606427" y="5305068"/>
            <a:ext cx="6217920" cy="743903"/>
          </a:xfrm>
          <a:prstGeom prst="rect">
            <a:avLst/>
          </a:prstGeom>
          <a:noFill/>
          <a:ln/>
        </p:spPr>
        <p:txBody>
          <a:bodyPr wrap="square" lIns="0" tIns="0" rIns="0" bIns="0" rtlCol="0" anchor="t"/>
          <a:lstStyle/>
          <a:p>
            <a:pPr marL="342900" indent="-342900" algn="l">
              <a:lnSpc>
                <a:spcPts val="2900"/>
              </a:lnSpc>
              <a:buSzPct val="100000"/>
              <a:buChar char="•"/>
            </a:pPr>
            <a:r>
              <a:rPr lang="en-US" sz="1800" b="1" dirty="0">
                <a:solidFill>
                  <a:srgbClr val="D6E5EF"/>
                </a:solidFill>
                <a:latin typeface="Source Sans 3" pitchFamily="34" charset="0"/>
                <a:ea typeface="Source Sans 3" pitchFamily="34" charset="-122"/>
                <a:cs typeface="Source Sans 3" pitchFamily="34" charset="-120"/>
              </a:rPr>
              <a:t>Clinic Access:</a:t>
            </a:r>
            <a:r>
              <a:rPr lang="en-US" sz="1800" dirty="0">
                <a:solidFill>
                  <a:srgbClr val="D6E5EF"/>
                </a:solidFill>
                <a:latin typeface="Source Sans 3" pitchFamily="34" charset="0"/>
                <a:ea typeface="Source Sans 3" pitchFamily="34" charset="-122"/>
                <a:cs typeface="Source Sans 3" pitchFamily="34" charset="-120"/>
              </a:rPr>
              <a:t> Limited availability of healthcare facilities, especially in underserved areas.</a:t>
            </a:r>
            <a:endParaRPr lang="en-US" sz="1800" dirty="0"/>
          </a:p>
        </p:txBody>
      </p:sp>
      <p:sp>
        <p:nvSpPr>
          <p:cNvPr id="13" name="Text 11"/>
          <p:cNvSpPr/>
          <p:nvPr/>
        </p:nvSpPr>
        <p:spPr>
          <a:xfrm>
            <a:off x="7606427" y="6130290"/>
            <a:ext cx="6217920" cy="743903"/>
          </a:xfrm>
          <a:prstGeom prst="rect">
            <a:avLst/>
          </a:prstGeom>
          <a:noFill/>
          <a:ln/>
        </p:spPr>
        <p:txBody>
          <a:bodyPr wrap="square" lIns="0" tIns="0" rIns="0" bIns="0" rtlCol="0" anchor="t"/>
          <a:lstStyle/>
          <a:p>
            <a:pPr marL="342900" indent="-342900" algn="l">
              <a:lnSpc>
                <a:spcPts val="2900"/>
              </a:lnSpc>
              <a:buSzPct val="100000"/>
              <a:buChar char="•"/>
            </a:pPr>
            <a:r>
              <a:rPr lang="en-US" sz="1800" b="1" dirty="0">
                <a:solidFill>
                  <a:srgbClr val="D6E5EF"/>
                </a:solidFill>
                <a:latin typeface="Source Sans 3" pitchFamily="34" charset="0"/>
                <a:ea typeface="Source Sans 3" pitchFamily="34" charset="-122"/>
                <a:cs typeface="Source Sans 3" pitchFamily="34" charset="-120"/>
              </a:rPr>
              <a:t>Fear of Needles:</a:t>
            </a:r>
            <a:r>
              <a:rPr lang="en-US" sz="1800" dirty="0">
                <a:solidFill>
                  <a:srgbClr val="D6E5EF"/>
                </a:solidFill>
                <a:latin typeface="Source Sans 3" pitchFamily="34" charset="0"/>
                <a:ea typeface="Source Sans 3" pitchFamily="34" charset="-122"/>
                <a:cs typeface="Source Sans 3" pitchFamily="34" charset="-120"/>
              </a:rPr>
              <a:t> Anxiety or discomfort associated with traditional blood draws.</a:t>
            </a:r>
            <a:endParaRPr lang="en-US" sz="1800" dirty="0"/>
          </a:p>
        </p:txBody>
      </p:sp>
      <p:sp>
        <p:nvSpPr>
          <p:cNvPr id="14" name="Text 12"/>
          <p:cNvSpPr/>
          <p:nvPr/>
        </p:nvSpPr>
        <p:spPr>
          <a:xfrm>
            <a:off x="813673" y="7216973"/>
            <a:ext cx="13003054" cy="371951"/>
          </a:xfrm>
          <a:prstGeom prst="rect">
            <a:avLst/>
          </a:prstGeom>
          <a:noFill/>
          <a:ln/>
        </p:spPr>
        <p:txBody>
          <a:bodyPr wrap="none" lIns="0" tIns="0" rIns="0" bIns="0" rtlCol="0" anchor="t"/>
          <a:lstStyle/>
          <a:p>
            <a:pPr marL="0" indent="0" algn="l">
              <a:lnSpc>
                <a:spcPts val="2900"/>
              </a:lnSpc>
              <a:buNone/>
            </a:pPr>
            <a:r>
              <a:rPr lang="en-US" sz="1800" dirty="0">
                <a:solidFill>
                  <a:srgbClr val="D6E5EF"/>
                </a:solidFill>
                <a:latin typeface="Source Sans 3" pitchFamily="34" charset="0"/>
                <a:ea typeface="Source Sans 3" pitchFamily="34" charset="-122"/>
                <a:cs typeface="Source Sans 3" pitchFamily="34" charset="-120"/>
              </a:rPr>
              <a:t>These challenges underscore the need for accessible, non-invasive screening solutions.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2601873"/>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Problem Statement</a:t>
            </a:r>
            <a:endParaRPr lang="en-US" sz="4400" dirty="0"/>
          </a:p>
        </p:txBody>
      </p:sp>
      <p:sp>
        <p:nvSpPr>
          <p:cNvPr id="3" name="Text 1"/>
          <p:cNvSpPr/>
          <p:nvPr/>
        </p:nvSpPr>
        <p:spPr>
          <a:xfrm>
            <a:off x="837724" y="3880247"/>
            <a:ext cx="2800826" cy="76604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Diabetes is increasing rapidly across the world.</a:t>
            </a:r>
            <a:endParaRPr lang="en-US" sz="1850" dirty="0"/>
          </a:p>
        </p:txBody>
      </p:sp>
      <p:sp>
        <p:nvSpPr>
          <p:cNvPr id="4" name="Text 2"/>
          <p:cNvSpPr/>
          <p:nvPr/>
        </p:nvSpPr>
        <p:spPr>
          <a:xfrm>
            <a:off x="4230053" y="3880247"/>
            <a:ext cx="2800826"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Early detection is very important to reduce complications.</a:t>
            </a:r>
            <a:endParaRPr lang="en-US" sz="1850" dirty="0"/>
          </a:p>
        </p:txBody>
      </p:sp>
      <p:sp>
        <p:nvSpPr>
          <p:cNvPr id="5" name="Text 3"/>
          <p:cNvSpPr/>
          <p:nvPr/>
        </p:nvSpPr>
        <p:spPr>
          <a:xfrm>
            <a:off x="7622381" y="3880247"/>
            <a:ext cx="2800826" cy="1149072"/>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Traditional medical diagnosis can be time-consuming.</a:t>
            </a:r>
            <a:endParaRPr lang="en-US" sz="1850" dirty="0"/>
          </a:p>
        </p:txBody>
      </p:sp>
      <p:sp>
        <p:nvSpPr>
          <p:cNvPr id="6" name="Text 4"/>
          <p:cNvSpPr/>
          <p:nvPr/>
        </p:nvSpPr>
        <p:spPr>
          <a:xfrm>
            <a:off x="11014710" y="3880247"/>
            <a:ext cx="2800826" cy="1532096"/>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We need a predictive model that helps in early identification using patient data.</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56603" y="682466"/>
            <a:ext cx="6340435" cy="563166"/>
          </a:xfrm>
          <a:prstGeom prst="rect">
            <a:avLst/>
          </a:prstGeom>
          <a:noFill/>
          <a:ln/>
        </p:spPr>
        <p:txBody>
          <a:bodyPr wrap="none" lIns="0" tIns="0" rIns="0" bIns="0" rtlCol="0" anchor="t"/>
          <a:lstStyle/>
          <a:p>
            <a:pPr marL="0" indent="0" algn="l">
              <a:lnSpc>
                <a:spcPts val="4400"/>
              </a:lnSpc>
              <a:buNone/>
            </a:pPr>
            <a:r>
              <a:rPr lang="en-US" sz="3500" dirty="0">
                <a:solidFill>
                  <a:srgbClr val="F98AC7"/>
                </a:solidFill>
                <a:latin typeface="Lora" pitchFamily="34" charset="0"/>
                <a:ea typeface="Lora" pitchFamily="34" charset="-122"/>
                <a:cs typeface="Lora" pitchFamily="34" charset="-120"/>
              </a:rPr>
              <a:t>Pima Indians Diabetes Dataset</a:t>
            </a:r>
            <a:endParaRPr lang="en-US" sz="3500" dirty="0"/>
          </a:p>
        </p:txBody>
      </p:sp>
      <p:sp>
        <p:nvSpPr>
          <p:cNvPr id="4" name="Text 1"/>
          <p:cNvSpPr/>
          <p:nvPr/>
        </p:nvSpPr>
        <p:spPr>
          <a:xfrm>
            <a:off x="6156603" y="1532811"/>
            <a:ext cx="7803594" cy="918686"/>
          </a:xfrm>
          <a:prstGeom prst="rect">
            <a:avLst/>
          </a:prstGeom>
          <a:noFill/>
          <a:ln/>
        </p:spPr>
        <p:txBody>
          <a:bodyPr wrap="square" lIns="0" tIns="0" rIns="0" bIns="0" rtlCol="0" anchor="t"/>
          <a:lstStyle/>
          <a:p>
            <a:pPr marL="0" indent="0" algn="l">
              <a:lnSpc>
                <a:spcPts val="2400"/>
              </a:lnSpc>
              <a:buNone/>
            </a:pPr>
            <a:r>
              <a:rPr lang="en-US" sz="1500" dirty="0">
                <a:solidFill>
                  <a:srgbClr val="D6E5EF"/>
                </a:solidFill>
                <a:latin typeface="Source Sans 3" pitchFamily="34" charset="0"/>
                <a:ea typeface="Source Sans 3" pitchFamily="34" charset="-122"/>
                <a:cs typeface="Source Sans 3" pitchFamily="34" charset="-120"/>
              </a:rPr>
              <a:t>Our Diabetes Risk Checker App leverages insights from the well-regarded </a:t>
            </a:r>
            <a:r>
              <a:rPr lang="en-US" sz="1500" b="1" dirty="0">
                <a:solidFill>
                  <a:srgbClr val="D6E5EF"/>
                </a:solidFill>
                <a:latin typeface="Source Sans 3" pitchFamily="34" charset="0"/>
                <a:ea typeface="Source Sans 3" pitchFamily="34" charset="-122"/>
                <a:cs typeface="Source Sans 3" pitchFamily="34" charset="-120"/>
              </a:rPr>
              <a:t>Pima Indians Diabetes Dataset</a:t>
            </a:r>
            <a:r>
              <a:rPr lang="en-US" sz="1500" dirty="0">
                <a:solidFill>
                  <a:srgbClr val="D6E5EF"/>
                </a:solidFill>
                <a:latin typeface="Source Sans 3" pitchFamily="34" charset="0"/>
                <a:ea typeface="Source Sans 3" pitchFamily="34" charset="-122"/>
                <a:cs typeface="Source Sans 3" pitchFamily="34" charset="-120"/>
              </a:rPr>
              <a:t>, a crucial resource in medical research. This dataset is instrumental in training our predictive model to accurately assess diabetes risk.</a:t>
            </a:r>
            <a:endParaRPr lang="en-US" sz="1500" dirty="0"/>
          </a:p>
        </p:txBody>
      </p:sp>
      <p:sp>
        <p:nvSpPr>
          <p:cNvPr id="5" name="Text 2"/>
          <p:cNvSpPr/>
          <p:nvPr/>
        </p:nvSpPr>
        <p:spPr>
          <a:xfrm>
            <a:off x="6156603" y="2666881"/>
            <a:ext cx="7803594" cy="612458"/>
          </a:xfrm>
          <a:prstGeom prst="rect">
            <a:avLst/>
          </a:prstGeom>
          <a:noFill/>
          <a:ln/>
        </p:spPr>
        <p:txBody>
          <a:bodyPr wrap="square" lIns="0" tIns="0" rIns="0" bIns="0" rtlCol="0" anchor="t"/>
          <a:lstStyle/>
          <a:p>
            <a:pPr marL="0" indent="0" algn="l">
              <a:lnSpc>
                <a:spcPts val="2400"/>
              </a:lnSpc>
              <a:buNone/>
            </a:pPr>
            <a:r>
              <a:rPr lang="en-US" sz="1500" dirty="0">
                <a:solidFill>
                  <a:srgbClr val="D6E5EF"/>
                </a:solidFill>
                <a:latin typeface="Source Sans 3" pitchFamily="34" charset="0"/>
                <a:ea typeface="Source Sans 3" pitchFamily="34" charset="-122"/>
                <a:cs typeface="Source Sans 3" pitchFamily="34" charset="-120"/>
              </a:rPr>
              <a:t>It comprises a collection of health metrics from female patients, offering a comprehensive view of various factors linked to diabetes onset:</a:t>
            </a:r>
            <a:endParaRPr lang="en-US" sz="1500" dirty="0"/>
          </a:p>
        </p:txBody>
      </p:sp>
      <p:sp>
        <p:nvSpPr>
          <p:cNvPr id="6" name="Text 3"/>
          <p:cNvSpPr/>
          <p:nvPr/>
        </p:nvSpPr>
        <p:spPr>
          <a:xfrm>
            <a:off x="6156603" y="3494723"/>
            <a:ext cx="7803594" cy="306229"/>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Pregnancies:</a:t>
            </a:r>
            <a:r>
              <a:rPr lang="en-US" sz="1500" dirty="0">
                <a:solidFill>
                  <a:srgbClr val="D6E5EF"/>
                </a:solidFill>
                <a:latin typeface="Source Sans 3" pitchFamily="34" charset="0"/>
                <a:ea typeface="Source Sans 3" pitchFamily="34" charset="-122"/>
                <a:cs typeface="Source Sans 3" pitchFamily="34" charset="-120"/>
              </a:rPr>
              <a:t> Number of times pregnant.</a:t>
            </a:r>
            <a:endParaRPr lang="en-US" sz="1500" dirty="0"/>
          </a:p>
        </p:txBody>
      </p:sp>
      <p:sp>
        <p:nvSpPr>
          <p:cNvPr id="7" name="Text 4"/>
          <p:cNvSpPr/>
          <p:nvPr/>
        </p:nvSpPr>
        <p:spPr>
          <a:xfrm>
            <a:off x="6156603" y="3867864"/>
            <a:ext cx="7803594" cy="306229"/>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Glucose Level:</a:t>
            </a:r>
            <a:r>
              <a:rPr lang="en-US" sz="1500" dirty="0">
                <a:solidFill>
                  <a:srgbClr val="D6E5EF"/>
                </a:solidFill>
                <a:latin typeface="Source Sans 3" pitchFamily="34" charset="0"/>
                <a:ea typeface="Source Sans 3" pitchFamily="34" charset="-122"/>
                <a:cs typeface="Source Sans 3" pitchFamily="34" charset="-120"/>
              </a:rPr>
              <a:t> Plasma glucose concentration (2 hours in an oral glucose tolerance test).</a:t>
            </a:r>
            <a:endParaRPr lang="en-US" sz="1500" dirty="0"/>
          </a:p>
        </p:txBody>
      </p:sp>
      <p:sp>
        <p:nvSpPr>
          <p:cNvPr id="8" name="Text 5"/>
          <p:cNvSpPr/>
          <p:nvPr/>
        </p:nvSpPr>
        <p:spPr>
          <a:xfrm>
            <a:off x="6156603" y="4241006"/>
            <a:ext cx="7803594" cy="306229"/>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Blood Pressure:</a:t>
            </a:r>
            <a:r>
              <a:rPr lang="en-US" sz="1500" dirty="0">
                <a:solidFill>
                  <a:srgbClr val="D6E5EF"/>
                </a:solidFill>
                <a:latin typeface="Source Sans 3" pitchFamily="34" charset="0"/>
                <a:ea typeface="Source Sans 3" pitchFamily="34" charset="-122"/>
                <a:cs typeface="Source Sans 3" pitchFamily="34" charset="-120"/>
              </a:rPr>
              <a:t> Diastolic blood pressure (mm Hg).</a:t>
            </a:r>
            <a:endParaRPr lang="en-US" sz="1500" dirty="0"/>
          </a:p>
        </p:txBody>
      </p:sp>
      <p:sp>
        <p:nvSpPr>
          <p:cNvPr id="9" name="Text 6"/>
          <p:cNvSpPr/>
          <p:nvPr/>
        </p:nvSpPr>
        <p:spPr>
          <a:xfrm>
            <a:off x="6156603" y="4614148"/>
            <a:ext cx="7803594" cy="306229"/>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Skin Thickness:</a:t>
            </a:r>
            <a:r>
              <a:rPr lang="en-US" sz="1500" dirty="0">
                <a:solidFill>
                  <a:srgbClr val="D6E5EF"/>
                </a:solidFill>
                <a:latin typeface="Source Sans 3" pitchFamily="34" charset="0"/>
                <a:ea typeface="Source Sans 3" pitchFamily="34" charset="-122"/>
                <a:cs typeface="Source Sans 3" pitchFamily="34" charset="-120"/>
              </a:rPr>
              <a:t> Triceps skin fold thickness (mm).</a:t>
            </a:r>
            <a:endParaRPr lang="en-US" sz="1500" dirty="0"/>
          </a:p>
        </p:txBody>
      </p:sp>
      <p:sp>
        <p:nvSpPr>
          <p:cNvPr id="10" name="Text 7"/>
          <p:cNvSpPr/>
          <p:nvPr/>
        </p:nvSpPr>
        <p:spPr>
          <a:xfrm>
            <a:off x="6156603" y="4987290"/>
            <a:ext cx="7803594" cy="306229"/>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Insulin:</a:t>
            </a:r>
            <a:r>
              <a:rPr lang="en-US" sz="1500" dirty="0">
                <a:solidFill>
                  <a:srgbClr val="D6E5EF"/>
                </a:solidFill>
                <a:latin typeface="Source Sans 3" pitchFamily="34" charset="0"/>
                <a:ea typeface="Source Sans 3" pitchFamily="34" charset="-122"/>
                <a:cs typeface="Source Sans 3" pitchFamily="34" charset="-120"/>
              </a:rPr>
              <a:t> 2-Hour serum insulin (mu U/ml).</a:t>
            </a:r>
            <a:endParaRPr lang="en-US" sz="1500" dirty="0"/>
          </a:p>
        </p:txBody>
      </p:sp>
      <p:sp>
        <p:nvSpPr>
          <p:cNvPr id="11" name="Text 8"/>
          <p:cNvSpPr/>
          <p:nvPr/>
        </p:nvSpPr>
        <p:spPr>
          <a:xfrm>
            <a:off x="6156603" y="5360432"/>
            <a:ext cx="7803594" cy="306229"/>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BMI:</a:t>
            </a:r>
            <a:r>
              <a:rPr lang="en-US" sz="1500" dirty="0">
                <a:solidFill>
                  <a:srgbClr val="D6E5EF"/>
                </a:solidFill>
                <a:latin typeface="Source Sans 3" pitchFamily="34" charset="0"/>
                <a:ea typeface="Source Sans 3" pitchFamily="34" charset="-122"/>
                <a:cs typeface="Source Sans 3" pitchFamily="34" charset="-120"/>
              </a:rPr>
              <a:t> Body Mass Index (weight in kg / (height in m)^2).</a:t>
            </a:r>
            <a:endParaRPr lang="en-US" sz="1500" dirty="0"/>
          </a:p>
        </p:txBody>
      </p:sp>
      <p:sp>
        <p:nvSpPr>
          <p:cNvPr id="12" name="Text 9"/>
          <p:cNvSpPr/>
          <p:nvPr/>
        </p:nvSpPr>
        <p:spPr>
          <a:xfrm>
            <a:off x="6156603" y="5733574"/>
            <a:ext cx="7803594" cy="612458"/>
          </a:xfrm>
          <a:prstGeom prst="rect">
            <a:avLst/>
          </a:prstGeom>
          <a:noFill/>
          <a:ln/>
        </p:spPr>
        <p:txBody>
          <a:bodyPr wrap="squar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Diabetes Pedigree Function:</a:t>
            </a:r>
            <a:r>
              <a:rPr lang="en-US" sz="1500" dirty="0">
                <a:solidFill>
                  <a:srgbClr val="D6E5EF"/>
                </a:solidFill>
                <a:latin typeface="Source Sans 3" pitchFamily="34" charset="0"/>
                <a:ea typeface="Source Sans 3" pitchFamily="34" charset="-122"/>
                <a:cs typeface="Source Sans 3" pitchFamily="34" charset="-120"/>
              </a:rPr>
              <a:t> A function that scores the likelihood of diabetes based on family history.</a:t>
            </a:r>
            <a:endParaRPr lang="en-US" sz="1500" dirty="0"/>
          </a:p>
        </p:txBody>
      </p:sp>
      <p:sp>
        <p:nvSpPr>
          <p:cNvPr id="13" name="Text 10"/>
          <p:cNvSpPr/>
          <p:nvPr/>
        </p:nvSpPr>
        <p:spPr>
          <a:xfrm>
            <a:off x="6156603" y="6412944"/>
            <a:ext cx="7803594" cy="306229"/>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Age:</a:t>
            </a:r>
            <a:r>
              <a:rPr lang="en-US" sz="1500" dirty="0">
                <a:solidFill>
                  <a:srgbClr val="D6E5EF"/>
                </a:solidFill>
                <a:latin typeface="Source Sans 3" pitchFamily="34" charset="0"/>
                <a:ea typeface="Source Sans 3" pitchFamily="34" charset="-122"/>
                <a:cs typeface="Source Sans 3" pitchFamily="34" charset="-120"/>
              </a:rPr>
              <a:t> Age in years.</a:t>
            </a:r>
            <a:endParaRPr lang="en-US" sz="1500" dirty="0"/>
          </a:p>
        </p:txBody>
      </p:sp>
      <p:sp>
        <p:nvSpPr>
          <p:cNvPr id="14" name="Text 11"/>
          <p:cNvSpPr/>
          <p:nvPr/>
        </p:nvSpPr>
        <p:spPr>
          <a:xfrm>
            <a:off x="6156603" y="6934557"/>
            <a:ext cx="7803594" cy="612458"/>
          </a:xfrm>
          <a:prstGeom prst="rect">
            <a:avLst/>
          </a:prstGeom>
          <a:noFill/>
          <a:ln/>
        </p:spPr>
        <p:txBody>
          <a:bodyPr wrap="square" lIns="0" tIns="0" rIns="0" bIns="0" rtlCol="0" anchor="t"/>
          <a:lstStyle/>
          <a:p>
            <a:pPr marL="0" indent="0" algn="l">
              <a:lnSpc>
                <a:spcPts val="2400"/>
              </a:lnSpc>
              <a:buNone/>
            </a:pPr>
            <a:r>
              <a:rPr lang="en-US" sz="1500" dirty="0">
                <a:solidFill>
                  <a:srgbClr val="D6E5EF"/>
                </a:solidFill>
                <a:latin typeface="Source Sans 3" pitchFamily="34" charset="0"/>
                <a:ea typeface="Source Sans 3" pitchFamily="34" charset="-122"/>
                <a:cs typeface="Source Sans 3" pitchFamily="34" charset="-120"/>
              </a:rPr>
              <a:t>The </a:t>
            </a:r>
            <a:r>
              <a:rPr lang="en-US" sz="1500" b="1" dirty="0">
                <a:solidFill>
                  <a:srgbClr val="D6E5EF"/>
                </a:solidFill>
                <a:latin typeface="Source Sans 3" pitchFamily="34" charset="0"/>
                <a:ea typeface="Source Sans 3" pitchFamily="34" charset="-122"/>
                <a:cs typeface="Source Sans 3" pitchFamily="34" charset="-120"/>
              </a:rPr>
              <a:t>Outcome</a:t>
            </a:r>
            <a:r>
              <a:rPr lang="en-US" sz="1500" dirty="0">
                <a:solidFill>
                  <a:srgbClr val="D6E5EF"/>
                </a:solidFill>
                <a:latin typeface="Source Sans 3" pitchFamily="34" charset="0"/>
                <a:ea typeface="Source Sans 3" pitchFamily="34" charset="-122"/>
                <a:cs typeface="Source Sans 3" pitchFamily="34" charset="-120"/>
              </a:rPr>
              <a:t> is the target variable, indicating whether the patient has diabetes (1) or not (0), allowing our model to learn patterns for risk prediction.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6275" y="531257"/>
            <a:ext cx="4546402" cy="568285"/>
          </a:xfrm>
          <a:prstGeom prst="rect">
            <a:avLst/>
          </a:prstGeom>
          <a:noFill/>
          <a:ln/>
        </p:spPr>
        <p:txBody>
          <a:bodyPr wrap="none" lIns="0" tIns="0" rIns="0" bIns="0" rtlCol="0" anchor="t"/>
          <a:lstStyle/>
          <a:p>
            <a:pPr marL="0" indent="0" algn="l">
              <a:lnSpc>
                <a:spcPts val="4450"/>
              </a:lnSpc>
              <a:buNone/>
            </a:pPr>
            <a:r>
              <a:rPr lang="en-US" sz="3550" dirty="0">
                <a:solidFill>
                  <a:srgbClr val="F98AC7"/>
                </a:solidFill>
                <a:latin typeface="Lora" pitchFamily="34" charset="0"/>
                <a:ea typeface="Lora" pitchFamily="34" charset="-122"/>
                <a:cs typeface="Lora" pitchFamily="34" charset="-120"/>
              </a:rPr>
              <a:t> The Core Process</a:t>
            </a:r>
            <a:endParaRPr lang="en-US" sz="3550" dirty="0"/>
          </a:p>
        </p:txBody>
      </p:sp>
      <p:sp>
        <p:nvSpPr>
          <p:cNvPr id="3" name="Shape 1"/>
          <p:cNvSpPr/>
          <p:nvPr/>
        </p:nvSpPr>
        <p:spPr>
          <a:xfrm>
            <a:off x="676275" y="1485900"/>
            <a:ext cx="434697" cy="434697"/>
          </a:xfrm>
          <a:prstGeom prst="roundRect">
            <a:avLst>
              <a:gd name="adj" fmla="val 6667"/>
            </a:avLst>
          </a:prstGeom>
          <a:solidFill>
            <a:srgbClr val="444752"/>
          </a:solidFill>
          <a:ln/>
        </p:spPr>
      </p:sp>
      <p:sp>
        <p:nvSpPr>
          <p:cNvPr id="4" name="Text 2"/>
          <p:cNvSpPr/>
          <p:nvPr/>
        </p:nvSpPr>
        <p:spPr>
          <a:xfrm>
            <a:off x="757178" y="1532751"/>
            <a:ext cx="272772" cy="340876"/>
          </a:xfrm>
          <a:prstGeom prst="rect">
            <a:avLst/>
          </a:prstGeom>
          <a:noFill/>
          <a:ln/>
        </p:spPr>
        <p:txBody>
          <a:bodyPr wrap="none" lIns="0" tIns="0" rIns="0" bIns="0" rtlCol="0" anchor="t"/>
          <a:lstStyle/>
          <a:p>
            <a:pPr marL="0" indent="0" algn="ctr">
              <a:lnSpc>
                <a:spcPts val="2100"/>
              </a:lnSpc>
              <a:buNone/>
            </a:pPr>
            <a:r>
              <a:rPr lang="en-US" sz="2100" dirty="0">
                <a:solidFill>
                  <a:srgbClr val="D6E5EF"/>
                </a:solidFill>
                <a:latin typeface="Lora" pitchFamily="34" charset="0"/>
                <a:ea typeface="Lora" pitchFamily="34" charset="-122"/>
                <a:cs typeface="Lora" pitchFamily="34" charset="-120"/>
              </a:rPr>
              <a:t>1</a:t>
            </a:r>
            <a:endParaRPr lang="en-US" sz="2100" dirty="0"/>
          </a:p>
        </p:txBody>
      </p:sp>
      <p:sp>
        <p:nvSpPr>
          <p:cNvPr id="5" name="Text 3"/>
          <p:cNvSpPr/>
          <p:nvPr/>
        </p:nvSpPr>
        <p:spPr>
          <a:xfrm>
            <a:off x="1304092" y="1552218"/>
            <a:ext cx="3331012" cy="284083"/>
          </a:xfrm>
          <a:prstGeom prst="rect">
            <a:avLst/>
          </a:prstGeom>
          <a:noFill/>
          <a:ln/>
        </p:spPr>
        <p:txBody>
          <a:bodyPr wrap="none" lIns="0" tIns="0" rIns="0" bIns="0" rtlCol="0" anchor="t"/>
          <a:lstStyle/>
          <a:p>
            <a:pPr marL="0" indent="0" algn="l">
              <a:lnSpc>
                <a:spcPts val="2200"/>
              </a:lnSpc>
              <a:buNone/>
            </a:pPr>
            <a:r>
              <a:rPr lang="en-US" sz="1750" dirty="0">
                <a:solidFill>
                  <a:srgbClr val="D6E5EF"/>
                </a:solidFill>
                <a:latin typeface="Lora" pitchFamily="34" charset="0"/>
                <a:ea typeface="Lora" pitchFamily="34" charset="-122"/>
                <a:cs typeface="Lora" pitchFamily="34" charset="-120"/>
              </a:rPr>
              <a:t>Data Understanding &amp; Cleaning</a:t>
            </a:r>
            <a:endParaRPr lang="en-US" sz="1750" dirty="0"/>
          </a:p>
        </p:txBody>
      </p:sp>
      <p:sp>
        <p:nvSpPr>
          <p:cNvPr id="6" name="Text 4"/>
          <p:cNvSpPr/>
          <p:nvPr/>
        </p:nvSpPr>
        <p:spPr>
          <a:xfrm>
            <a:off x="1304092" y="1952149"/>
            <a:ext cx="12650033" cy="309086"/>
          </a:xfrm>
          <a:prstGeom prst="rect">
            <a:avLst/>
          </a:prstGeom>
          <a:noFill/>
          <a:ln/>
        </p:spPr>
        <p:txBody>
          <a:bodyPr wrap="none" lIns="0" tIns="0" rIns="0" bIns="0" rtlCol="0" anchor="t"/>
          <a:lstStyle/>
          <a:p>
            <a:pPr marL="0" indent="0" algn="l">
              <a:lnSpc>
                <a:spcPts val="2400"/>
              </a:lnSpc>
              <a:buNone/>
            </a:pPr>
            <a:r>
              <a:rPr lang="en-US" sz="1500" dirty="0">
                <a:solidFill>
                  <a:srgbClr val="D6E5EF"/>
                </a:solidFill>
                <a:latin typeface="Source Sans 3" pitchFamily="34" charset="0"/>
                <a:ea typeface="Source Sans 3" pitchFamily="34" charset="-122"/>
                <a:cs typeface="Source Sans 3" pitchFamily="34" charset="-120"/>
              </a:rPr>
              <a:t>Before any analysis, we ensure the Pima Indians Diabetes Dataset is meticulously prepared. This involves:</a:t>
            </a:r>
            <a:endParaRPr lang="en-US" sz="1500" dirty="0"/>
          </a:p>
        </p:txBody>
      </p:sp>
      <p:sp>
        <p:nvSpPr>
          <p:cNvPr id="7" name="Text 5"/>
          <p:cNvSpPr/>
          <p:nvPr/>
        </p:nvSpPr>
        <p:spPr>
          <a:xfrm>
            <a:off x="1304092" y="2377083"/>
            <a:ext cx="12650033" cy="309086"/>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Invalid values:</a:t>
            </a:r>
            <a:r>
              <a:rPr lang="en-US" sz="1500" dirty="0">
                <a:solidFill>
                  <a:srgbClr val="D6E5EF"/>
                </a:solidFill>
                <a:latin typeface="Source Sans 3" pitchFamily="34" charset="0"/>
                <a:ea typeface="Source Sans 3" pitchFamily="34" charset="-122"/>
                <a:cs typeface="Source Sans 3" pitchFamily="34" charset="-120"/>
              </a:rPr>
              <a:t> Thoroughly checking for and correcting any missing or invalid values.</a:t>
            </a:r>
            <a:endParaRPr lang="en-US" sz="1500" dirty="0"/>
          </a:p>
        </p:txBody>
      </p:sp>
      <p:sp>
        <p:nvSpPr>
          <p:cNvPr id="8" name="Text 6"/>
          <p:cNvSpPr/>
          <p:nvPr/>
        </p:nvSpPr>
        <p:spPr>
          <a:xfrm>
            <a:off x="1304092" y="2753797"/>
            <a:ext cx="12650033" cy="309086"/>
          </a:xfrm>
          <a:prstGeom prst="rect">
            <a:avLst/>
          </a:prstGeom>
          <a:noFill/>
          <a:ln/>
        </p:spPr>
        <p:txBody>
          <a:bodyPr wrap="none" lIns="0" tIns="0" rIns="0" bIns="0" rtlCol="0" anchor="t"/>
          <a:lstStyle/>
          <a:p>
            <a:pPr marL="342900" indent="-342900" algn="l">
              <a:lnSpc>
                <a:spcPts val="2400"/>
              </a:lnSpc>
              <a:buSzPct val="100000"/>
              <a:buChar char="•"/>
            </a:pPr>
            <a:r>
              <a:rPr lang="en-US" sz="1500" b="1" dirty="0">
                <a:solidFill>
                  <a:srgbClr val="D6E5EF"/>
                </a:solidFill>
                <a:latin typeface="Source Sans 3" pitchFamily="34" charset="0"/>
                <a:ea typeface="Source Sans 3" pitchFamily="34" charset="-122"/>
                <a:cs typeface="Source Sans 3" pitchFamily="34" charset="-120"/>
              </a:rPr>
              <a:t>Outlier Management:</a:t>
            </a:r>
            <a:r>
              <a:rPr lang="en-US" sz="1500" dirty="0">
                <a:solidFill>
                  <a:srgbClr val="D6E5EF"/>
                </a:solidFill>
                <a:latin typeface="Source Sans 3" pitchFamily="34" charset="0"/>
                <a:ea typeface="Source Sans 3" pitchFamily="34" charset="-122"/>
                <a:cs typeface="Source Sans 3" pitchFamily="34" charset="-120"/>
              </a:rPr>
              <a:t> Identifying and appropriately handling outliers that could skew the model's accuracy.</a:t>
            </a:r>
            <a:endParaRPr lang="en-US" sz="1500" dirty="0"/>
          </a:p>
        </p:txBody>
      </p:sp>
      <p:pic>
        <p:nvPicPr>
          <p:cNvPr id="9" name="Image 0" descr="preencoded.png"/>
          <p:cNvPicPr>
            <a:picLocks noChangeAspect="1"/>
          </p:cNvPicPr>
          <p:nvPr/>
        </p:nvPicPr>
        <p:blipFill>
          <a:blip r:embed="rId3"/>
          <a:stretch>
            <a:fillRect/>
          </a:stretch>
        </p:blipFill>
        <p:spPr>
          <a:xfrm>
            <a:off x="3041571" y="3280172"/>
            <a:ext cx="8547140" cy="442043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105972"/>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 The Core Process</a:t>
            </a:r>
            <a:endParaRPr lang="en-US" sz="4400" dirty="0"/>
          </a:p>
        </p:txBody>
      </p:sp>
      <p:sp>
        <p:nvSpPr>
          <p:cNvPr id="3" name="Shape 1"/>
          <p:cNvSpPr/>
          <p:nvPr/>
        </p:nvSpPr>
        <p:spPr>
          <a:xfrm>
            <a:off x="837724" y="2288738"/>
            <a:ext cx="538520" cy="538520"/>
          </a:xfrm>
          <a:prstGeom prst="roundRect">
            <a:avLst>
              <a:gd name="adj" fmla="val 6668"/>
            </a:avLst>
          </a:prstGeom>
          <a:solidFill>
            <a:srgbClr val="444752"/>
          </a:solidFill>
          <a:ln/>
        </p:spPr>
      </p:sp>
      <p:pic>
        <p:nvPicPr>
          <p:cNvPr id="4" name="Image 0" descr="preencoded.png"/>
          <p:cNvPicPr>
            <a:picLocks noChangeAspect="1"/>
          </p:cNvPicPr>
          <p:nvPr/>
        </p:nvPicPr>
        <p:blipFill>
          <a:blip r:embed="rId3"/>
          <a:stretch>
            <a:fillRect/>
          </a:stretch>
        </p:blipFill>
        <p:spPr>
          <a:xfrm>
            <a:off x="937974" y="2346722"/>
            <a:ext cx="337899" cy="422434"/>
          </a:xfrm>
          <a:prstGeom prst="rect">
            <a:avLst/>
          </a:prstGeom>
        </p:spPr>
      </p:pic>
      <p:sp>
        <p:nvSpPr>
          <p:cNvPr id="5" name="Text 2"/>
          <p:cNvSpPr/>
          <p:nvPr/>
        </p:nvSpPr>
        <p:spPr>
          <a:xfrm>
            <a:off x="1615559" y="2371011"/>
            <a:ext cx="415730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Exploratory Data Analysis (EDA)</a:t>
            </a:r>
            <a:endParaRPr lang="en-US" sz="2200" dirty="0"/>
          </a:p>
        </p:txBody>
      </p:sp>
      <p:sp>
        <p:nvSpPr>
          <p:cNvPr id="6" name="Text 3"/>
          <p:cNvSpPr/>
          <p:nvPr/>
        </p:nvSpPr>
        <p:spPr>
          <a:xfrm>
            <a:off x="1615559" y="2866549"/>
            <a:ext cx="5549979" cy="1532096"/>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Before building any model, we perform Exploratory Data Analysis (EDA) to understand the dataset. This involves examining distributions, detecting patterns, and identifying outliers.</a:t>
            </a:r>
            <a:endParaRPr lang="en-US" sz="1850" dirty="0"/>
          </a:p>
        </p:txBody>
      </p:sp>
      <p:sp>
        <p:nvSpPr>
          <p:cNvPr id="7" name="Text 4"/>
          <p:cNvSpPr/>
          <p:nvPr/>
        </p:nvSpPr>
        <p:spPr>
          <a:xfrm>
            <a:off x="1615559" y="4542234"/>
            <a:ext cx="5549979"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Visualized distributions (boxplots, histograms) .</a:t>
            </a:r>
            <a:endParaRPr lang="en-US" sz="1850" dirty="0"/>
          </a:p>
        </p:txBody>
      </p:sp>
      <p:sp>
        <p:nvSpPr>
          <p:cNvPr id="8" name="Text 5"/>
          <p:cNvSpPr/>
          <p:nvPr/>
        </p:nvSpPr>
        <p:spPr>
          <a:xfrm>
            <a:off x="1615559" y="5008959"/>
            <a:ext cx="5549979"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Checked correlation between features and outcome .</a:t>
            </a:r>
            <a:endParaRPr lang="en-US" sz="1850" dirty="0"/>
          </a:p>
        </p:txBody>
      </p:sp>
      <p:sp>
        <p:nvSpPr>
          <p:cNvPr id="9" name="Text 6"/>
          <p:cNvSpPr/>
          <p:nvPr/>
        </p:nvSpPr>
        <p:spPr>
          <a:xfrm>
            <a:off x="1615559" y="5858708"/>
            <a:ext cx="5549979"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Correlation heatmap.</a:t>
            </a:r>
            <a:endParaRPr lang="en-US" sz="1850" dirty="0"/>
          </a:p>
        </p:txBody>
      </p:sp>
      <p:pic>
        <p:nvPicPr>
          <p:cNvPr id="11" name="Image 1" descr="preencoded.png"/>
          <p:cNvPicPr>
            <a:picLocks noChangeAspect="1"/>
          </p:cNvPicPr>
          <p:nvPr/>
        </p:nvPicPr>
        <p:blipFill>
          <a:blip r:embed="rId4"/>
          <a:stretch>
            <a:fillRect/>
          </a:stretch>
        </p:blipFill>
        <p:spPr>
          <a:xfrm>
            <a:off x="8242578" y="2366486"/>
            <a:ext cx="5494734" cy="47571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2588181"/>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 The Core Process</a:t>
            </a:r>
            <a:endParaRPr lang="en-US" sz="4400" dirty="0"/>
          </a:p>
        </p:txBody>
      </p:sp>
      <p:sp>
        <p:nvSpPr>
          <p:cNvPr id="3" name="Shape 1"/>
          <p:cNvSpPr/>
          <p:nvPr/>
        </p:nvSpPr>
        <p:spPr>
          <a:xfrm>
            <a:off x="837724" y="3770948"/>
            <a:ext cx="538520" cy="538520"/>
          </a:xfrm>
          <a:prstGeom prst="roundRect">
            <a:avLst>
              <a:gd name="adj" fmla="val 6668"/>
            </a:avLst>
          </a:prstGeom>
          <a:solidFill>
            <a:srgbClr val="444752"/>
          </a:solidFill>
          <a:ln/>
        </p:spPr>
      </p:sp>
      <p:pic>
        <p:nvPicPr>
          <p:cNvPr id="4" name="Image 0" descr="preencoded.png"/>
          <p:cNvPicPr>
            <a:picLocks noChangeAspect="1"/>
          </p:cNvPicPr>
          <p:nvPr/>
        </p:nvPicPr>
        <p:blipFill>
          <a:blip r:embed="rId3"/>
          <a:stretch>
            <a:fillRect/>
          </a:stretch>
        </p:blipFill>
        <p:spPr>
          <a:xfrm>
            <a:off x="937974" y="3828931"/>
            <a:ext cx="337899" cy="422434"/>
          </a:xfrm>
          <a:prstGeom prst="rect">
            <a:avLst/>
          </a:prstGeom>
        </p:spPr>
      </p:pic>
      <p:sp>
        <p:nvSpPr>
          <p:cNvPr id="5" name="Text 2"/>
          <p:cNvSpPr/>
          <p:nvPr/>
        </p:nvSpPr>
        <p:spPr>
          <a:xfrm>
            <a:off x="1615559" y="3853220"/>
            <a:ext cx="3410783"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Feature Scaling/Selection</a:t>
            </a:r>
            <a:endParaRPr lang="en-US" sz="2200" dirty="0"/>
          </a:p>
        </p:txBody>
      </p:sp>
      <p:sp>
        <p:nvSpPr>
          <p:cNvPr id="6" name="Text 3"/>
          <p:cNvSpPr/>
          <p:nvPr/>
        </p:nvSpPr>
        <p:spPr>
          <a:xfrm>
            <a:off x="1615559" y="4348758"/>
            <a:ext cx="12177117" cy="76604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Before training the model, we apply Feature Scaling and Selection. This helps ensure all features contribute fairly and improves the model’s performance by removing irrelevant or redundant data.</a:t>
            </a:r>
            <a:endParaRPr lang="en-US" sz="1850" dirty="0"/>
          </a:p>
        </p:txBody>
      </p:sp>
      <p:sp>
        <p:nvSpPr>
          <p:cNvPr id="7" name="Text 4"/>
          <p:cNvSpPr/>
          <p:nvPr/>
        </p:nvSpPr>
        <p:spPr>
          <a:xfrm>
            <a:off x="1615559" y="5258395"/>
            <a:ext cx="12177117"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Standardized numeric features .</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2354818"/>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 The Core Process</a:t>
            </a:r>
            <a:endParaRPr lang="en-US" sz="4400" dirty="0"/>
          </a:p>
        </p:txBody>
      </p:sp>
      <p:sp>
        <p:nvSpPr>
          <p:cNvPr id="3" name="Shape 1"/>
          <p:cNvSpPr/>
          <p:nvPr/>
        </p:nvSpPr>
        <p:spPr>
          <a:xfrm>
            <a:off x="837724" y="3537585"/>
            <a:ext cx="538520" cy="538520"/>
          </a:xfrm>
          <a:prstGeom prst="roundRect">
            <a:avLst>
              <a:gd name="adj" fmla="val 6668"/>
            </a:avLst>
          </a:prstGeom>
          <a:solidFill>
            <a:srgbClr val="444752"/>
          </a:solidFill>
          <a:ln/>
        </p:spPr>
      </p:sp>
      <p:pic>
        <p:nvPicPr>
          <p:cNvPr id="4" name="Image 0" descr="preencoded.png"/>
          <p:cNvPicPr>
            <a:picLocks noChangeAspect="1"/>
          </p:cNvPicPr>
          <p:nvPr/>
        </p:nvPicPr>
        <p:blipFill>
          <a:blip r:embed="rId3"/>
          <a:stretch>
            <a:fillRect/>
          </a:stretch>
        </p:blipFill>
        <p:spPr>
          <a:xfrm>
            <a:off x="937974" y="3595568"/>
            <a:ext cx="337899" cy="422434"/>
          </a:xfrm>
          <a:prstGeom prst="rect">
            <a:avLst/>
          </a:prstGeom>
        </p:spPr>
      </p:pic>
      <p:sp>
        <p:nvSpPr>
          <p:cNvPr id="5" name="Text 2"/>
          <p:cNvSpPr/>
          <p:nvPr/>
        </p:nvSpPr>
        <p:spPr>
          <a:xfrm>
            <a:off x="1615559" y="361985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Model Preparation</a:t>
            </a:r>
            <a:endParaRPr lang="en-US" sz="2200" dirty="0"/>
          </a:p>
        </p:txBody>
      </p:sp>
      <p:sp>
        <p:nvSpPr>
          <p:cNvPr id="6" name="Text 3"/>
          <p:cNvSpPr/>
          <p:nvPr/>
        </p:nvSpPr>
        <p:spPr>
          <a:xfrm>
            <a:off x="1615559" y="4115395"/>
            <a:ext cx="12177117" cy="76604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We finalize the feature set and target, encode and scale variables, handle class imbalance, split the data into train/validation/test.</a:t>
            </a:r>
            <a:endParaRPr lang="en-US" sz="1850" dirty="0"/>
          </a:p>
        </p:txBody>
      </p:sp>
      <p:sp>
        <p:nvSpPr>
          <p:cNvPr id="7" name="Text 4"/>
          <p:cNvSpPr/>
          <p:nvPr/>
        </p:nvSpPr>
        <p:spPr>
          <a:xfrm>
            <a:off x="1615559" y="5025033"/>
            <a:ext cx="12177117"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Data splitting for model evaluation . </a:t>
            </a:r>
            <a:endParaRPr lang="en-US" sz="1850" dirty="0"/>
          </a:p>
        </p:txBody>
      </p:sp>
      <p:sp>
        <p:nvSpPr>
          <p:cNvPr id="8" name="Text 5"/>
          <p:cNvSpPr/>
          <p:nvPr/>
        </p:nvSpPr>
        <p:spPr>
          <a:xfrm>
            <a:off x="1615559" y="5491758"/>
            <a:ext cx="12177117"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Data splitting into features (X) and labels/target (y).</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37724" y="2354818"/>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 The Core Process</a:t>
            </a:r>
            <a:endParaRPr lang="en-US" sz="4400" dirty="0"/>
          </a:p>
        </p:txBody>
      </p:sp>
      <p:sp>
        <p:nvSpPr>
          <p:cNvPr id="3" name="Shape 1"/>
          <p:cNvSpPr/>
          <p:nvPr/>
        </p:nvSpPr>
        <p:spPr>
          <a:xfrm>
            <a:off x="837724" y="3537585"/>
            <a:ext cx="538520" cy="538520"/>
          </a:xfrm>
          <a:prstGeom prst="roundRect">
            <a:avLst>
              <a:gd name="adj" fmla="val 6668"/>
            </a:avLst>
          </a:prstGeom>
          <a:solidFill>
            <a:srgbClr val="444752"/>
          </a:solidFill>
          <a:ln/>
        </p:spPr>
      </p:sp>
      <p:pic>
        <p:nvPicPr>
          <p:cNvPr id="4" name="Image 0" descr="preencoded.png"/>
          <p:cNvPicPr>
            <a:picLocks noChangeAspect="1"/>
          </p:cNvPicPr>
          <p:nvPr/>
        </p:nvPicPr>
        <p:blipFill>
          <a:blip r:embed="rId3"/>
          <a:stretch>
            <a:fillRect/>
          </a:stretch>
        </p:blipFill>
        <p:spPr>
          <a:xfrm>
            <a:off x="937974" y="3595568"/>
            <a:ext cx="337899" cy="422434"/>
          </a:xfrm>
          <a:prstGeom prst="rect">
            <a:avLst/>
          </a:prstGeom>
        </p:spPr>
      </p:pic>
      <p:sp>
        <p:nvSpPr>
          <p:cNvPr id="5" name="Text 2"/>
          <p:cNvSpPr/>
          <p:nvPr/>
        </p:nvSpPr>
        <p:spPr>
          <a:xfrm>
            <a:off x="1615559" y="361985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Model Building</a:t>
            </a:r>
            <a:endParaRPr lang="en-US" sz="2200" dirty="0"/>
          </a:p>
        </p:txBody>
      </p:sp>
      <p:sp>
        <p:nvSpPr>
          <p:cNvPr id="6" name="Text 3"/>
          <p:cNvSpPr/>
          <p:nvPr/>
        </p:nvSpPr>
        <p:spPr>
          <a:xfrm>
            <a:off x="1615559" y="4115395"/>
            <a:ext cx="12177117" cy="76604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we select appropriate algorithms, train the model using the prepared dataset, and fine-tune its parameters to achieve optimal performance.</a:t>
            </a:r>
            <a:endParaRPr lang="en-US" sz="1850" dirty="0"/>
          </a:p>
        </p:txBody>
      </p:sp>
      <p:sp>
        <p:nvSpPr>
          <p:cNvPr id="7" name="Text 4"/>
          <p:cNvSpPr/>
          <p:nvPr/>
        </p:nvSpPr>
        <p:spPr>
          <a:xfrm>
            <a:off x="1615559" y="5025033"/>
            <a:ext cx="12177117"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Tried multiple models (Logistic Regression, Random Forest, XGBoost).</a:t>
            </a:r>
            <a:endParaRPr lang="en-US" sz="1850" dirty="0"/>
          </a:p>
        </p:txBody>
      </p:sp>
      <p:sp>
        <p:nvSpPr>
          <p:cNvPr id="8" name="Text 5"/>
          <p:cNvSpPr/>
          <p:nvPr/>
        </p:nvSpPr>
        <p:spPr>
          <a:xfrm>
            <a:off x="1615559" y="5491758"/>
            <a:ext cx="12177117" cy="383024"/>
          </a:xfrm>
          <a:prstGeom prst="rect">
            <a:avLst/>
          </a:prstGeom>
          <a:noFill/>
          <a:ln/>
        </p:spPr>
        <p:txBody>
          <a:bodyPr wrap="non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 Tuned hyperparameters for Random Forest model to improve performance.</a:t>
            </a:r>
            <a:endParaRPr lang="en-US" sz="1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37724" y="1449705"/>
            <a:ext cx="5632490"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 The Core Process</a:t>
            </a:r>
            <a:endParaRPr lang="en-US" sz="4400" dirty="0"/>
          </a:p>
        </p:txBody>
      </p:sp>
      <p:sp>
        <p:nvSpPr>
          <p:cNvPr id="3" name="Shape 1"/>
          <p:cNvSpPr/>
          <p:nvPr/>
        </p:nvSpPr>
        <p:spPr>
          <a:xfrm>
            <a:off x="837724" y="2632472"/>
            <a:ext cx="538520" cy="538520"/>
          </a:xfrm>
          <a:prstGeom prst="roundRect">
            <a:avLst>
              <a:gd name="adj" fmla="val 6668"/>
            </a:avLst>
          </a:prstGeom>
          <a:solidFill>
            <a:srgbClr val="444752"/>
          </a:solidFill>
          <a:ln/>
        </p:spPr>
      </p:sp>
      <p:pic>
        <p:nvPicPr>
          <p:cNvPr id="4" name="Image 0" descr="preencoded.png"/>
          <p:cNvPicPr>
            <a:picLocks noChangeAspect="1"/>
          </p:cNvPicPr>
          <p:nvPr/>
        </p:nvPicPr>
        <p:blipFill>
          <a:blip r:embed="rId3"/>
          <a:stretch>
            <a:fillRect/>
          </a:stretch>
        </p:blipFill>
        <p:spPr>
          <a:xfrm>
            <a:off x="937974" y="2690455"/>
            <a:ext cx="337899" cy="422434"/>
          </a:xfrm>
          <a:prstGeom prst="rect">
            <a:avLst/>
          </a:prstGeom>
        </p:spPr>
      </p:pic>
      <p:sp>
        <p:nvSpPr>
          <p:cNvPr id="5" name="Text 2"/>
          <p:cNvSpPr/>
          <p:nvPr/>
        </p:nvSpPr>
        <p:spPr>
          <a:xfrm>
            <a:off x="1615559" y="2714744"/>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Model Evaluation</a:t>
            </a:r>
            <a:endParaRPr lang="en-US" sz="2200" dirty="0"/>
          </a:p>
        </p:txBody>
      </p:sp>
      <p:sp>
        <p:nvSpPr>
          <p:cNvPr id="6" name="Text 3"/>
          <p:cNvSpPr/>
          <p:nvPr/>
        </p:nvSpPr>
        <p:spPr>
          <a:xfrm>
            <a:off x="1615559" y="3210282"/>
            <a:ext cx="5549979" cy="1532096"/>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During Model Evaluation, we assess the trained model's performance using metrics such as accuracy, precision, recall, and F1-score to ensure it makes reliable predictions.</a:t>
            </a:r>
            <a:endParaRPr lang="en-US" sz="1850" dirty="0"/>
          </a:p>
        </p:txBody>
      </p:sp>
      <p:sp>
        <p:nvSpPr>
          <p:cNvPr id="7" name="Text 4"/>
          <p:cNvSpPr/>
          <p:nvPr/>
        </p:nvSpPr>
        <p:spPr>
          <a:xfrm>
            <a:off x="1615559" y="4885968"/>
            <a:ext cx="5549979"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Compared accuracy, precision, recall, and F1-score.</a:t>
            </a:r>
            <a:endParaRPr lang="en-US" sz="1850" dirty="0"/>
          </a:p>
        </p:txBody>
      </p:sp>
      <p:sp>
        <p:nvSpPr>
          <p:cNvPr id="8" name="Text 5"/>
          <p:cNvSpPr/>
          <p:nvPr/>
        </p:nvSpPr>
        <p:spPr>
          <a:xfrm>
            <a:off x="1615559" y="5735717"/>
            <a:ext cx="5549979" cy="766048"/>
          </a:xfrm>
          <a:prstGeom prst="rect">
            <a:avLst/>
          </a:prstGeom>
          <a:noFill/>
          <a:ln/>
        </p:spPr>
        <p:txBody>
          <a:bodyPr wrap="square" lIns="0" tIns="0" rIns="0" bIns="0" rtlCol="0" anchor="t"/>
          <a:lstStyle/>
          <a:p>
            <a:pPr marL="342900" indent="-342900" algn="l">
              <a:lnSpc>
                <a:spcPts val="3000"/>
              </a:lnSpc>
              <a:buSzPct val="100000"/>
              <a:buChar char="•"/>
            </a:pPr>
            <a:r>
              <a:rPr lang="en-US" sz="1850" b="1" dirty="0">
                <a:solidFill>
                  <a:srgbClr val="D6E5EF"/>
                </a:solidFill>
                <a:latin typeface="Source Sans 3" pitchFamily="34" charset="0"/>
                <a:ea typeface="Source Sans 3" pitchFamily="34" charset="-122"/>
                <a:cs typeface="Source Sans 3" pitchFamily="34" charset="-120"/>
              </a:rPr>
              <a:t>A learning curve helps track a model’s progress during training.</a:t>
            </a:r>
            <a:endParaRPr lang="en-US" sz="1850" dirty="0"/>
          </a:p>
        </p:txBody>
      </p:sp>
      <p:pic>
        <p:nvPicPr>
          <p:cNvPr id="10" name="Image 1" descr="preencoded.png"/>
          <p:cNvPicPr>
            <a:picLocks noChangeAspect="1"/>
          </p:cNvPicPr>
          <p:nvPr/>
        </p:nvPicPr>
        <p:blipFill>
          <a:blip r:embed="rId4"/>
          <a:stretch>
            <a:fillRect/>
          </a:stretch>
        </p:blipFill>
        <p:spPr>
          <a:xfrm>
            <a:off x="8245197" y="2710220"/>
            <a:ext cx="5544860" cy="40696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1193602"/>
            <a:ext cx="7201257" cy="70401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Model Performance Results</a:t>
            </a:r>
            <a:endParaRPr lang="en-US" sz="4400" dirty="0"/>
          </a:p>
        </p:txBody>
      </p:sp>
      <p:sp>
        <p:nvSpPr>
          <p:cNvPr id="3" name="Text 1"/>
          <p:cNvSpPr/>
          <p:nvPr/>
        </p:nvSpPr>
        <p:spPr>
          <a:xfrm>
            <a:off x="837724" y="2376368"/>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After rigorous testing and fine-tuning, our predictive model demonstrates exceptional performance in identifying diabetes risk. We are proud to present the key outcomes:</a:t>
            </a:r>
            <a:endParaRPr lang="en-US" sz="1850" dirty="0"/>
          </a:p>
        </p:txBody>
      </p:sp>
      <p:sp>
        <p:nvSpPr>
          <p:cNvPr id="4" name="Shape 2"/>
          <p:cNvSpPr/>
          <p:nvPr/>
        </p:nvSpPr>
        <p:spPr>
          <a:xfrm>
            <a:off x="837724" y="3411617"/>
            <a:ext cx="4158734" cy="3624263"/>
          </a:xfrm>
          <a:prstGeom prst="roundRect">
            <a:avLst>
              <a:gd name="adj" fmla="val 991"/>
            </a:avLst>
          </a:prstGeom>
          <a:solidFill>
            <a:srgbClr val="444752"/>
          </a:solidFill>
          <a:ln/>
        </p:spPr>
      </p:sp>
      <p:sp>
        <p:nvSpPr>
          <p:cNvPr id="5" name="Text 3"/>
          <p:cNvSpPr/>
          <p:nvPr/>
        </p:nvSpPr>
        <p:spPr>
          <a:xfrm>
            <a:off x="1077039" y="3650933"/>
            <a:ext cx="3013115"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Best Performing Model</a:t>
            </a:r>
            <a:endParaRPr lang="en-US" sz="2200" dirty="0"/>
          </a:p>
        </p:txBody>
      </p:sp>
      <p:sp>
        <p:nvSpPr>
          <p:cNvPr id="6" name="Text 4"/>
          <p:cNvSpPr/>
          <p:nvPr/>
        </p:nvSpPr>
        <p:spPr>
          <a:xfrm>
            <a:off x="1077039" y="4146471"/>
            <a:ext cx="3680103" cy="1915120"/>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The </a:t>
            </a:r>
            <a:r>
              <a:rPr lang="en-US" sz="1850" b="1" dirty="0">
                <a:solidFill>
                  <a:srgbClr val="D6E5EF"/>
                </a:solidFill>
                <a:latin typeface="Source Sans 3" pitchFamily="34" charset="0"/>
                <a:ea typeface="Source Sans 3" pitchFamily="34" charset="-122"/>
                <a:cs typeface="Source Sans 3" pitchFamily="34" charset="-120"/>
              </a:rPr>
              <a:t>Random Forest Classifier</a:t>
            </a:r>
            <a:r>
              <a:rPr lang="en-US" sz="1850" dirty="0">
                <a:solidFill>
                  <a:srgbClr val="D6E5EF"/>
                </a:solidFill>
                <a:latin typeface="Source Sans 3" pitchFamily="34" charset="0"/>
                <a:ea typeface="Source Sans 3" pitchFamily="34" charset="-122"/>
                <a:cs typeface="Source Sans 3" pitchFamily="34" charset="-120"/>
              </a:rPr>
              <a:t> emerged as the superior choice due to its robustness and ability to handle complex datasets, providing reliable predictions for diabetes risk.</a:t>
            </a:r>
            <a:endParaRPr lang="en-US" sz="1850" dirty="0"/>
          </a:p>
        </p:txBody>
      </p:sp>
      <p:sp>
        <p:nvSpPr>
          <p:cNvPr id="7" name="Shape 5"/>
          <p:cNvSpPr/>
          <p:nvPr/>
        </p:nvSpPr>
        <p:spPr>
          <a:xfrm>
            <a:off x="5235773" y="3411617"/>
            <a:ext cx="4158734" cy="3624263"/>
          </a:xfrm>
          <a:prstGeom prst="roundRect">
            <a:avLst>
              <a:gd name="adj" fmla="val 991"/>
            </a:avLst>
          </a:prstGeom>
          <a:solidFill>
            <a:srgbClr val="444752"/>
          </a:solidFill>
          <a:ln/>
        </p:spPr>
      </p:sp>
      <p:sp>
        <p:nvSpPr>
          <p:cNvPr id="8" name="Text 6"/>
          <p:cNvSpPr/>
          <p:nvPr/>
        </p:nvSpPr>
        <p:spPr>
          <a:xfrm>
            <a:off x="5475089" y="3650933"/>
            <a:ext cx="3165158"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High Accuracy Achieved</a:t>
            </a:r>
            <a:endParaRPr lang="en-US" sz="2200" dirty="0"/>
          </a:p>
        </p:txBody>
      </p:sp>
      <p:sp>
        <p:nvSpPr>
          <p:cNvPr id="9" name="Text 7"/>
          <p:cNvSpPr/>
          <p:nvPr/>
        </p:nvSpPr>
        <p:spPr>
          <a:xfrm>
            <a:off x="5475089" y="4146471"/>
            <a:ext cx="3680103" cy="1915120"/>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Our model consistently achieved an impressive accuracy rate of approximately </a:t>
            </a:r>
            <a:r>
              <a:rPr lang="en-US" sz="1850" b="1" dirty="0">
                <a:solidFill>
                  <a:srgbClr val="D6E5EF"/>
                </a:solidFill>
                <a:latin typeface="Source Sans 3" pitchFamily="34" charset="0"/>
                <a:ea typeface="Source Sans 3" pitchFamily="34" charset="-122"/>
                <a:cs typeface="Source Sans 3" pitchFamily="34" charset="-120"/>
              </a:rPr>
              <a:t>90-95%</a:t>
            </a:r>
            <a:r>
              <a:rPr lang="en-US" sz="1850" dirty="0">
                <a:solidFill>
                  <a:srgbClr val="D6E5EF"/>
                </a:solidFill>
                <a:latin typeface="Source Sans 3" pitchFamily="34" charset="0"/>
                <a:ea typeface="Source Sans 3" pitchFamily="34" charset="-122"/>
                <a:cs typeface="Source Sans 3" pitchFamily="34" charset="-120"/>
              </a:rPr>
              <a:t>, ensuring a high degree of confidence in its assessments.</a:t>
            </a:r>
            <a:endParaRPr lang="en-US" sz="1850" dirty="0"/>
          </a:p>
        </p:txBody>
      </p:sp>
      <p:sp>
        <p:nvSpPr>
          <p:cNvPr id="10" name="Shape 8"/>
          <p:cNvSpPr/>
          <p:nvPr/>
        </p:nvSpPr>
        <p:spPr>
          <a:xfrm>
            <a:off x="9633823" y="3411617"/>
            <a:ext cx="4158853" cy="3624263"/>
          </a:xfrm>
          <a:prstGeom prst="roundRect">
            <a:avLst>
              <a:gd name="adj" fmla="val 991"/>
            </a:avLst>
          </a:prstGeom>
          <a:solidFill>
            <a:srgbClr val="444752"/>
          </a:solidFill>
          <a:ln/>
        </p:spPr>
      </p:sp>
      <p:sp>
        <p:nvSpPr>
          <p:cNvPr id="11" name="Text 9"/>
          <p:cNvSpPr/>
          <p:nvPr/>
        </p:nvSpPr>
        <p:spPr>
          <a:xfrm>
            <a:off x="9873139" y="3650933"/>
            <a:ext cx="3680222" cy="703898"/>
          </a:xfrm>
          <a:prstGeom prst="rect">
            <a:avLst/>
          </a:prstGeom>
          <a:noFill/>
          <a:ln/>
        </p:spPr>
        <p:txBody>
          <a:bodyPr wrap="squar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Balanced Prediction Metrics</a:t>
            </a:r>
            <a:endParaRPr lang="en-US" sz="2200" dirty="0"/>
          </a:p>
        </p:txBody>
      </p:sp>
      <p:sp>
        <p:nvSpPr>
          <p:cNvPr id="12" name="Text 10"/>
          <p:cNvSpPr/>
          <p:nvPr/>
        </p:nvSpPr>
        <p:spPr>
          <a:xfrm>
            <a:off x="9873139" y="4498419"/>
            <a:ext cx="3680222" cy="2298144"/>
          </a:xfrm>
          <a:prstGeom prst="rect">
            <a:avLst/>
          </a:prstGeom>
          <a:noFill/>
          <a:ln/>
        </p:spPr>
        <p:txBody>
          <a:bodyPr wrap="square" lIns="0" tIns="0" rIns="0" bIns="0" rtlCol="0" anchor="t"/>
          <a:lstStyle/>
          <a:p>
            <a:pPr marL="0" indent="0" algn="l">
              <a:lnSpc>
                <a:spcPts val="3000"/>
              </a:lnSpc>
              <a:buNone/>
            </a:pPr>
            <a:r>
              <a:rPr lang="en-US" sz="1850" dirty="0">
                <a:solidFill>
                  <a:srgbClr val="D6E5EF"/>
                </a:solidFill>
                <a:latin typeface="Source Sans 3" pitchFamily="34" charset="0"/>
                <a:ea typeface="Source Sans 3" pitchFamily="34" charset="-122"/>
                <a:cs typeface="Source Sans 3" pitchFamily="34" charset="-120"/>
              </a:rPr>
              <a:t>Beyond accuracy, the model demonstrates a </a:t>
            </a:r>
            <a:r>
              <a:rPr lang="en-US" sz="1850" b="1" dirty="0">
                <a:solidFill>
                  <a:srgbClr val="D6E5EF"/>
                </a:solidFill>
                <a:latin typeface="Source Sans 3" pitchFamily="34" charset="0"/>
                <a:ea typeface="Source Sans 3" pitchFamily="34" charset="-122"/>
                <a:cs typeface="Source Sans 3" pitchFamily="34" charset="-120"/>
              </a:rPr>
              <a:t>good balance</a:t>
            </a:r>
            <a:r>
              <a:rPr lang="en-US" sz="1850" dirty="0">
                <a:solidFill>
                  <a:srgbClr val="D6E5EF"/>
                </a:solidFill>
                <a:latin typeface="Source Sans 3" pitchFamily="34" charset="0"/>
                <a:ea typeface="Source Sans 3" pitchFamily="34" charset="-122"/>
                <a:cs typeface="Source Sans 3" pitchFamily="34" charset="-120"/>
              </a:rPr>
              <a:t> between sensitivity and specificity, minimizing both false positives and false negatives, which is crucial for health risk assessment.</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5099" y="626864"/>
            <a:ext cx="8912543" cy="668179"/>
          </a:xfrm>
          <a:prstGeom prst="rect">
            <a:avLst/>
          </a:prstGeom>
          <a:noFill/>
          <a:ln/>
        </p:spPr>
        <p:txBody>
          <a:bodyPr wrap="none" lIns="0" tIns="0" rIns="0" bIns="0" rtlCol="0" anchor="t"/>
          <a:lstStyle/>
          <a:p>
            <a:pPr marL="0" indent="0" algn="l">
              <a:lnSpc>
                <a:spcPts val="5250"/>
              </a:lnSpc>
              <a:buNone/>
            </a:pPr>
            <a:r>
              <a:rPr lang="en-US" sz="4200" dirty="0">
                <a:solidFill>
                  <a:srgbClr val="F98AC7"/>
                </a:solidFill>
                <a:latin typeface="Lora" pitchFamily="34" charset="0"/>
                <a:ea typeface="Lora" pitchFamily="34" charset="-122"/>
                <a:cs typeface="Lora" pitchFamily="34" charset="-120"/>
              </a:rPr>
              <a:t>The Impact of Our Predictive Model</a:t>
            </a:r>
            <a:endParaRPr lang="en-US" sz="4200" dirty="0"/>
          </a:p>
        </p:txBody>
      </p:sp>
      <p:sp>
        <p:nvSpPr>
          <p:cNvPr id="3" name="Text 1"/>
          <p:cNvSpPr/>
          <p:nvPr/>
        </p:nvSpPr>
        <p:spPr>
          <a:xfrm>
            <a:off x="795099" y="1749385"/>
            <a:ext cx="13040201" cy="726758"/>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Source Sans 3" pitchFamily="34" charset="0"/>
                <a:ea typeface="Source Sans 3" pitchFamily="34" charset="-122"/>
                <a:cs typeface="Source Sans 3" pitchFamily="34" charset="-120"/>
              </a:rPr>
              <a:t>Our machine learning model is not just a technological achievement; it's a powerful tool designed to revolutionize early diabetes risk assessment and empower individuals in their health journeys.</a:t>
            </a:r>
            <a:endParaRPr lang="en-US" sz="1750" dirty="0"/>
          </a:p>
        </p:txBody>
      </p:sp>
      <p:pic>
        <p:nvPicPr>
          <p:cNvPr id="4" name="Image 0" descr="preencoded.png"/>
          <p:cNvPicPr>
            <a:picLocks noChangeAspect="1"/>
          </p:cNvPicPr>
          <p:nvPr/>
        </p:nvPicPr>
        <p:blipFill>
          <a:blip r:embed="rId3"/>
          <a:stretch>
            <a:fillRect/>
          </a:stretch>
        </p:blipFill>
        <p:spPr>
          <a:xfrm>
            <a:off x="795099" y="2731651"/>
            <a:ext cx="4346734" cy="908685"/>
          </a:xfrm>
          <a:prstGeom prst="rect">
            <a:avLst/>
          </a:prstGeom>
        </p:spPr>
      </p:pic>
      <p:sp>
        <p:nvSpPr>
          <p:cNvPr id="5" name="Text 2"/>
          <p:cNvSpPr/>
          <p:nvPr/>
        </p:nvSpPr>
        <p:spPr>
          <a:xfrm>
            <a:off x="1022271" y="3867507"/>
            <a:ext cx="2672596" cy="334089"/>
          </a:xfrm>
          <a:prstGeom prst="rect">
            <a:avLst/>
          </a:prstGeom>
          <a:noFill/>
          <a:ln/>
        </p:spPr>
        <p:txBody>
          <a:bodyPr wrap="none" lIns="0" tIns="0" rIns="0" bIns="0" rtlCol="0" anchor="t"/>
          <a:lstStyle/>
          <a:p>
            <a:pPr marL="0" indent="0" algn="l">
              <a:lnSpc>
                <a:spcPts val="2600"/>
              </a:lnSpc>
              <a:buNone/>
            </a:pPr>
            <a:r>
              <a:rPr lang="en-US" sz="2100" dirty="0">
                <a:solidFill>
                  <a:srgbClr val="D6E5EF"/>
                </a:solidFill>
                <a:latin typeface="Lora" pitchFamily="34" charset="0"/>
                <a:ea typeface="Lora" pitchFamily="34" charset="-122"/>
                <a:cs typeface="Lora" pitchFamily="34" charset="-120"/>
              </a:rPr>
              <a:t>Predictive Insights</a:t>
            </a:r>
            <a:endParaRPr lang="en-US" sz="2100" dirty="0"/>
          </a:p>
        </p:txBody>
      </p:sp>
      <p:sp>
        <p:nvSpPr>
          <p:cNvPr id="6" name="Text 3"/>
          <p:cNvSpPr/>
          <p:nvPr/>
        </p:nvSpPr>
        <p:spPr>
          <a:xfrm>
            <a:off x="1022271" y="4337804"/>
            <a:ext cx="3892391" cy="1453515"/>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Source Sans 3" pitchFamily="34" charset="0"/>
                <a:ea typeface="Source Sans 3" pitchFamily="34" charset="-122"/>
                <a:cs typeface="Source Sans 3" pitchFamily="34" charset="-120"/>
              </a:rPr>
              <a:t>Leverages advanced algorithms to accurately predict diabetes risk, identifying potential issues before symptoms appear.</a:t>
            </a:r>
            <a:endParaRPr lang="en-US" sz="1750" dirty="0"/>
          </a:p>
        </p:txBody>
      </p:sp>
      <p:pic>
        <p:nvPicPr>
          <p:cNvPr id="7" name="Image 1" descr="preencoded.png"/>
          <p:cNvPicPr>
            <a:picLocks noChangeAspect="1"/>
          </p:cNvPicPr>
          <p:nvPr/>
        </p:nvPicPr>
        <p:blipFill>
          <a:blip r:embed="rId4"/>
          <a:stretch>
            <a:fillRect/>
          </a:stretch>
        </p:blipFill>
        <p:spPr>
          <a:xfrm>
            <a:off x="5141833" y="2731651"/>
            <a:ext cx="4346734" cy="908685"/>
          </a:xfrm>
          <a:prstGeom prst="rect">
            <a:avLst/>
          </a:prstGeom>
        </p:spPr>
      </p:pic>
      <p:sp>
        <p:nvSpPr>
          <p:cNvPr id="8" name="Text 4"/>
          <p:cNvSpPr/>
          <p:nvPr/>
        </p:nvSpPr>
        <p:spPr>
          <a:xfrm>
            <a:off x="5369004" y="3867507"/>
            <a:ext cx="2672596" cy="334089"/>
          </a:xfrm>
          <a:prstGeom prst="rect">
            <a:avLst/>
          </a:prstGeom>
          <a:noFill/>
          <a:ln/>
        </p:spPr>
        <p:txBody>
          <a:bodyPr wrap="none" lIns="0" tIns="0" rIns="0" bIns="0" rtlCol="0" anchor="t"/>
          <a:lstStyle/>
          <a:p>
            <a:pPr marL="0" indent="0" algn="l">
              <a:lnSpc>
                <a:spcPts val="2600"/>
              </a:lnSpc>
              <a:buNone/>
            </a:pPr>
            <a:r>
              <a:rPr lang="en-US" sz="2100" dirty="0">
                <a:solidFill>
                  <a:srgbClr val="D6E5EF"/>
                </a:solidFill>
                <a:latin typeface="Lora" pitchFamily="34" charset="0"/>
                <a:ea typeface="Lora" pitchFamily="34" charset="-122"/>
                <a:cs typeface="Lora" pitchFamily="34" charset="-120"/>
              </a:rPr>
              <a:t>Clinical Support</a:t>
            </a:r>
            <a:endParaRPr lang="en-US" sz="2100" dirty="0"/>
          </a:p>
        </p:txBody>
      </p:sp>
      <p:sp>
        <p:nvSpPr>
          <p:cNvPr id="9" name="Text 5"/>
          <p:cNvSpPr/>
          <p:nvPr/>
        </p:nvSpPr>
        <p:spPr>
          <a:xfrm>
            <a:off x="5369004" y="4337804"/>
            <a:ext cx="3892391" cy="1090136"/>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Source Sans 3" pitchFamily="34" charset="0"/>
                <a:ea typeface="Source Sans 3" pitchFamily="34" charset="-122"/>
                <a:cs typeface="Source Sans 3" pitchFamily="34" charset="-120"/>
              </a:rPr>
              <a:t>Provides doctors with a valuable supplementary tool for early diagnosis, streamlining the detection process.</a:t>
            </a:r>
            <a:endParaRPr lang="en-US" sz="1750" dirty="0"/>
          </a:p>
        </p:txBody>
      </p:sp>
      <p:pic>
        <p:nvPicPr>
          <p:cNvPr id="10" name="Image 2" descr="preencoded.png"/>
          <p:cNvPicPr>
            <a:picLocks noChangeAspect="1"/>
          </p:cNvPicPr>
          <p:nvPr/>
        </p:nvPicPr>
        <p:blipFill>
          <a:blip r:embed="rId5"/>
          <a:stretch>
            <a:fillRect/>
          </a:stretch>
        </p:blipFill>
        <p:spPr>
          <a:xfrm>
            <a:off x="9488567" y="2731651"/>
            <a:ext cx="4346734" cy="908685"/>
          </a:xfrm>
          <a:prstGeom prst="rect">
            <a:avLst/>
          </a:prstGeom>
        </p:spPr>
      </p:pic>
      <p:sp>
        <p:nvSpPr>
          <p:cNvPr id="11" name="Text 6"/>
          <p:cNvSpPr/>
          <p:nvPr/>
        </p:nvSpPr>
        <p:spPr>
          <a:xfrm>
            <a:off x="9715738" y="3867507"/>
            <a:ext cx="2672596" cy="334089"/>
          </a:xfrm>
          <a:prstGeom prst="rect">
            <a:avLst/>
          </a:prstGeom>
          <a:noFill/>
          <a:ln/>
        </p:spPr>
        <p:txBody>
          <a:bodyPr wrap="none" lIns="0" tIns="0" rIns="0" bIns="0" rtlCol="0" anchor="t"/>
          <a:lstStyle/>
          <a:p>
            <a:pPr marL="0" indent="0" algn="l">
              <a:lnSpc>
                <a:spcPts val="2600"/>
              </a:lnSpc>
              <a:buNone/>
            </a:pPr>
            <a:r>
              <a:rPr lang="en-US" sz="2100" dirty="0">
                <a:solidFill>
                  <a:srgbClr val="D6E5EF"/>
                </a:solidFill>
                <a:latin typeface="Lora" pitchFamily="34" charset="0"/>
                <a:ea typeface="Lora" pitchFamily="34" charset="-122"/>
                <a:cs typeface="Lora" pitchFamily="34" charset="-120"/>
              </a:rPr>
              <a:t>Proactive Health</a:t>
            </a:r>
            <a:endParaRPr lang="en-US" sz="2100" dirty="0"/>
          </a:p>
        </p:txBody>
      </p:sp>
      <p:sp>
        <p:nvSpPr>
          <p:cNvPr id="12" name="Text 7"/>
          <p:cNvSpPr/>
          <p:nvPr/>
        </p:nvSpPr>
        <p:spPr>
          <a:xfrm>
            <a:off x="9715738" y="4337804"/>
            <a:ext cx="3892391" cy="1090136"/>
          </a:xfrm>
          <a:prstGeom prst="rect">
            <a:avLst/>
          </a:prstGeom>
          <a:noFill/>
          <a:ln/>
        </p:spPr>
        <p:txBody>
          <a:bodyPr wrap="square" lIns="0" tIns="0" rIns="0" bIns="0" rtlCol="0" anchor="t"/>
          <a:lstStyle/>
          <a:p>
            <a:pPr marL="0" indent="0" algn="l">
              <a:lnSpc>
                <a:spcPts val="2850"/>
              </a:lnSpc>
              <a:buNone/>
            </a:pPr>
            <a:r>
              <a:rPr lang="en-US" sz="1750" dirty="0">
                <a:solidFill>
                  <a:srgbClr val="D6E5EF"/>
                </a:solidFill>
                <a:latin typeface="Source Sans 3" pitchFamily="34" charset="0"/>
                <a:ea typeface="Source Sans 3" pitchFamily="34" charset="-122"/>
                <a:cs typeface="Source Sans 3" pitchFamily="34" charset="-120"/>
              </a:rPr>
              <a:t>Empowers individuals to take preventive actions sooner, potentially delaying or preventing the onset of diabetes.</a:t>
            </a:r>
            <a:endParaRPr lang="en-US" sz="1750" dirty="0"/>
          </a:p>
        </p:txBody>
      </p:sp>
      <p:sp>
        <p:nvSpPr>
          <p:cNvPr id="13" name="Shape 8"/>
          <p:cNvSpPr/>
          <p:nvPr/>
        </p:nvSpPr>
        <p:spPr>
          <a:xfrm>
            <a:off x="795099" y="6273998"/>
            <a:ext cx="13040201" cy="1328737"/>
          </a:xfrm>
          <a:prstGeom prst="roundRect">
            <a:avLst>
              <a:gd name="adj" fmla="val 2565"/>
            </a:avLst>
          </a:prstGeom>
          <a:solidFill>
            <a:srgbClr val="4B3F02"/>
          </a:solidFill>
          <a:ln/>
        </p:spPr>
      </p:sp>
      <p:pic>
        <p:nvPicPr>
          <p:cNvPr id="14" name="Image 3" descr="preencoded.png"/>
          <p:cNvPicPr>
            <a:picLocks noChangeAspect="1"/>
          </p:cNvPicPr>
          <p:nvPr/>
        </p:nvPicPr>
        <p:blipFill>
          <a:blip r:embed="rId6"/>
          <a:stretch>
            <a:fillRect/>
          </a:stretch>
        </p:blipFill>
        <p:spPr>
          <a:xfrm>
            <a:off x="1022271" y="6610588"/>
            <a:ext cx="283964" cy="227171"/>
          </a:xfrm>
          <a:prstGeom prst="rect">
            <a:avLst/>
          </a:prstGeom>
        </p:spPr>
      </p:pic>
      <p:sp>
        <p:nvSpPr>
          <p:cNvPr id="15" name="Text 9"/>
          <p:cNvSpPr/>
          <p:nvPr/>
        </p:nvSpPr>
        <p:spPr>
          <a:xfrm>
            <a:off x="1533406" y="6557963"/>
            <a:ext cx="12074723" cy="726758"/>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Source Sans 3" pitchFamily="34" charset="0"/>
                <a:ea typeface="Source Sans 3" pitchFamily="34" charset="-122"/>
                <a:cs typeface="Source Sans 3" pitchFamily="34" charset="-120"/>
              </a:rPr>
              <a:t>Important Disclaimer:</a:t>
            </a:r>
            <a:r>
              <a:rPr lang="en-US" sz="1750" dirty="0">
                <a:solidFill>
                  <a:srgbClr val="FFFFFF"/>
                </a:solidFill>
                <a:latin typeface="Source Sans 3" pitchFamily="34" charset="0"/>
                <a:ea typeface="Source Sans 3" pitchFamily="34" charset="-122"/>
                <a:cs typeface="Source Sans 3" pitchFamily="34" charset="-120"/>
              </a:rPr>
              <a:t> This app provides a relative risk assessment and is not a substitute for professional medical advice. Always consult a healthcare provider for a definitive diagnosis and treatment plan.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1199</Words>
  <Application>Microsoft Office PowerPoint</Application>
  <PresentationFormat>Custom</PresentationFormat>
  <Paragraphs>108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Lora</vt:lpstr>
      <vt:lpstr>Calibri</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Microsoft account</cp:lastModifiedBy>
  <cp:revision>2</cp:revision>
  <dcterms:created xsi:type="dcterms:W3CDTF">2025-08-18T01:33:55Z</dcterms:created>
  <dcterms:modified xsi:type="dcterms:W3CDTF">2025-08-18T01:36:03Z</dcterms:modified>
</cp:coreProperties>
</file>